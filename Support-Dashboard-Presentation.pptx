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7856FF">
              <a:alpha val="12000"/>
            </a:srgbClr>
          </a:solidFill>
          <a:ln/>
        </p:spPr>
      </p:sp>
      <p:sp>
        <p:nvSpPr>
          <p:cNvPr id="3" name="Shape 1"/>
          <p:cNvSpPr/>
          <p:nvPr/>
        </p:nvSpPr>
        <p:spPr>
          <a:xfrm>
            <a:off x="-1828800" y="4114800"/>
            <a:ext cx="4572000" cy="4572000"/>
          </a:xfrm>
          <a:prstGeom prst="ellipse">
            <a:avLst/>
          </a:prstGeom>
          <a:solidFill>
            <a:srgbClr val="7856FF">
              <a:alpha val="8000"/>
            </a:srgbClr>
          </a:solidFill>
          <a:ln/>
        </p:spPr>
      </p:sp>
      <p:sp>
        <p:nvSpPr>
          <p:cNvPr id="4" name="Shape 2"/>
          <p:cNvSpPr/>
          <p:nvPr/>
        </p:nvSpPr>
        <p:spPr>
          <a:xfrm>
            <a:off x="548640" y="502920"/>
            <a:ext cx="109728" cy="109728"/>
          </a:xfrm>
          <a:prstGeom prst="ellipse">
            <a:avLst/>
          </a:prstGeom>
          <a:solidFill>
            <a:srgbClr val="7856FF"/>
          </a:solidFill>
          <a:ln/>
        </p:spPr>
      </p:sp>
      <p:sp>
        <p:nvSpPr>
          <p:cNvPr id="5" name="Text 3"/>
          <p:cNvSpPr/>
          <p:nvPr/>
        </p:nvSpPr>
        <p:spPr>
          <a:xfrm>
            <a:off x="749808" y="420624"/>
            <a:ext cx="5486400" cy="274320"/>
          </a:xfrm>
          <a:prstGeom prst="rect">
            <a:avLst/>
          </a:prstGeom>
          <a:noFill/>
          <a:ln/>
        </p:spPr>
        <p:txBody>
          <a:bodyPr wrap="square" rtlCol="0" anchor="ctr"/>
          <a:lstStyle/>
          <a:p>
            <a:pPr indent="0" marL="0">
              <a:buNone/>
            </a:pPr>
            <a:r>
              <a:rPr lang="en-US" sz="1200" b="1" spc="200" kern="0" dirty="0">
                <a:solidFill>
                  <a:srgbClr val="7856FF"/>
                </a:solidFill>
                <a:latin typeface="Calibri" pitchFamily="34" charset="0"/>
                <a:ea typeface="Calibri" pitchFamily="34" charset="-122"/>
                <a:cs typeface="Calibri" pitchFamily="34" charset="-120"/>
              </a:rPr>
              <a:t>CUSTOMER SUPPORT OPERATIONS</a:t>
            </a:r>
            <a:endParaRPr lang="en-US" sz="1200" dirty="0"/>
          </a:p>
        </p:txBody>
      </p:sp>
      <p:sp>
        <p:nvSpPr>
          <p:cNvPr id="6" name="Text 4"/>
          <p:cNvSpPr/>
          <p:nvPr/>
        </p:nvSpPr>
        <p:spPr>
          <a:xfrm>
            <a:off x="548640" y="2286000"/>
            <a:ext cx="10515600" cy="118872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Support Dashboard</a:t>
            </a:r>
            <a:endParaRPr lang="en-US" sz="4800" dirty="0"/>
          </a:p>
        </p:txBody>
      </p:sp>
      <p:sp>
        <p:nvSpPr>
          <p:cNvPr id="7" name="Text 5"/>
          <p:cNvSpPr/>
          <p:nvPr/>
        </p:nvSpPr>
        <p:spPr>
          <a:xfrm>
            <a:off x="548640" y="3429000"/>
            <a:ext cx="8686800" cy="548640"/>
          </a:xfrm>
          <a:prstGeom prst="rect">
            <a:avLst/>
          </a:prstGeom>
          <a:noFill/>
          <a:ln/>
        </p:spPr>
        <p:txBody>
          <a:bodyPr wrap="square" rtlCol="0" anchor="ctr"/>
          <a:lstStyle/>
          <a:p>
            <a:pPr indent="0" marL="0">
              <a:buNone/>
            </a:pPr>
            <a:r>
              <a:rPr lang="en-US" sz="1700" dirty="0">
                <a:solidFill>
                  <a:srgbClr val="C9C9D6"/>
                </a:solidFill>
                <a:latin typeface="Calibri" pitchFamily="34" charset="0"/>
                <a:ea typeface="Calibri" pitchFamily="34" charset="-122"/>
                <a:cs typeface="Calibri" pitchFamily="34" charset="-120"/>
              </a:rPr>
              <a:t>A metrics review of queue health, response speed, and customer satisfaction</a:t>
            </a:r>
            <a:endParaRPr lang="en-US" sz="1700" dirty="0"/>
          </a:p>
        </p:txBody>
      </p:sp>
      <p:sp>
        <p:nvSpPr>
          <p:cNvPr id="8" name="Shape 6"/>
          <p:cNvSpPr/>
          <p:nvPr/>
        </p:nvSpPr>
        <p:spPr>
          <a:xfrm>
            <a:off x="566928" y="4160520"/>
            <a:ext cx="1005840" cy="0"/>
          </a:xfrm>
          <a:prstGeom prst="line">
            <a:avLst/>
          </a:prstGeom>
          <a:noFill/>
          <a:ln w="31750">
            <a:solidFill>
              <a:srgbClr val="7856FF"/>
            </a:solidFill>
            <a:prstDash val="solid"/>
          </a:ln>
        </p:spPr>
      </p:sp>
      <p:sp>
        <p:nvSpPr>
          <p:cNvPr id="9" name="Text 7"/>
          <p:cNvSpPr/>
          <p:nvPr/>
        </p:nvSpPr>
        <p:spPr>
          <a:xfrm>
            <a:off x="548640" y="6126480"/>
            <a:ext cx="7315200" cy="320040"/>
          </a:xfrm>
          <a:prstGeom prst="rect">
            <a:avLst/>
          </a:prstGeom>
          <a:noFill/>
          <a:ln/>
        </p:spPr>
        <p:txBody>
          <a:bodyPr wrap="square" rtlCol="0" anchor="ctr"/>
          <a:lstStyle/>
          <a:p>
            <a:pPr indent="0" marL="0">
              <a:buNone/>
            </a:pPr>
            <a:r>
              <a:rPr lang="en-US" sz="1100" dirty="0">
                <a:solidFill>
                  <a:srgbClr val="8A8A99"/>
                </a:solidFill>
                <a:latin typeface="Calibri" pitchFamily="34" charset="0"/>
                <a:ea typeface="Calibri" pitchFamily="34" charset="-122"/>
                <a:cs typeface="Calibri" pitchFamily="34" charset="-120"/>
              </a:rPr>
              <a:t>Prepared by Duško Stamenić   ·   Data Analysis Track   ·   2026</a:t>
            </a:r>
            <a:endParaRPr lang="en-US" sz="1100" dirty="0"/>
          </a:p>
        </p:txBody>
      </p:sp>
      <p:sp>
        <p:nvSpPr>
          <p:cNvPr id="10" name="Text 8"/>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548640" y="448056"/>
            <a:ext cx="91440" cy="91440"/>
          </a:xfrm>
          <a:prstGeom prst="ellipse">
            <a:avLst/>
          </a:prstGeom>
          <a:solidFill>
            <a:srgbClr val="7856FF"/>
          </a:solidFill>
          <a:ln/>
        </p:spPr>
      </p:sp>
      <p:sp>
        <p:nvSpPr>
          <p:cNvPr id="3" name="Text 1"/>
          <p:cNvSpPr/>
          <p:nvPr/>
        </p:nvSpPr>
        <p:spPr>
          <a:xfrm>
            <a:off x="749808" y="411480"/>
            <a:ext cx="5486400" cy="228600"/>
          </a:xfrm>
          <a:prstGeom prst="rect">
            <a:avLst/>
          </a:prstGeom>
          <a:noFill/>
          <a:ln/>
        </p:spPr>
        <p:txBody>
          <a:bodyPr wrap="square" rtlCol="0" anchor="ctr"/>
          <a:lstStyle/>
          <a:p>
            <a:pPr indent="0" marL="0">
              <a:buNone/>
            </a:pPr>
            <a:r>
              <a:rPr lang="en-US" sz="1100" b="1" spc="200" kern="0" dirty="0">
                <a:solidFill>
                  <a:srgbClr val="7856FF"/>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this review covers</a:t>
            </a:r>
            <a:endParaRPr lang="en-US" sz="3000" dirty="0"/>
          </a:p>
        </p:txBody>
      </p:sp>
      <p:sp>
        <p:nvSpPr>
          <p:cNvPr id="5" name="Shape 3"/>
          <p:cNvSpPr/>
          <p:nvPr/>
        </p:nvSpPr>
        <p:spPr>
          <a:xfrm>
            <a:off x="548640" y="1691640"/>
            <a:ext cx="502920" cy="502920"/>
          </a:xfrm>
          <a:prstGeom prst="ellipse">
            <a:avLst/>
          </a:prstGeom>
          <a:solidFill>
            <a:srgbClr val="F0ECFF"/>
          </a:solidFill>
          <a:ln/>
        </p:spPr>
      </p:sp>
      <p:sp>
        <p:nvSpPr>
          <p:cNvPr id="6" name="Text 4"/>
          <p:cNvSpPr/>
          <p:nvPr/>
        </p:nvSpPr>
        <p:spPr>
          <a:xfrm>
            <a:off x="548640" y="1691640"/>
            <a:ext cx="502920" cy="502920"/>
          </a:xfrm>
          <a:prstGeom prst="rect">
            <a:avLst/>
          </a:prstGeom>
          <a:noFill/>
          <a:ln/>
        </p:spPr>
        <p:txBody>
          <a:bodyPr wrap="square" rtlCol="0" anchor="ctr"/>
          <a:lstStyle/>
          <a:p>
            <a:pPr algn="ctr" indent="0" marL="0">
              <a:buNone/>
            </a:pPr>
            <a:r>
              <a:rPr lang="en-US" sz="1400" b="1" dirty="0">
                <a:solidFill>
                  <a:srgbClr val="7856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234440" y="1664208"/>
            <a:ext cx="4572000" cy="365760"/>
          </a:xfrm>
          <a:prstGeom prst="rect">
            <a:avLst/>
          </a:prstGeom>
          <a:noFill/>
          <a:ln/>
        </p:spPr>
        <p:txBody>
          <a:bodyPr wrap="square"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The Dashboard</a:t>
            </a:r>
            <a:endParaRPr lang="en-US" sz="1600" dirty="0"/>
          </a:p>
        </p:txBody>
      </p:sp>
      <p:sp>
        <p:nvSpPr>
          <p:cNvPr id="8" name="Text 6"/>
          <p:cNvSpPr/>
          <p:nvPr/>
        </p:nvSpPr>
        <p:spPr>
          <a:xfrm>
            <a:off x="1234440" y="1984248"/>
            <a:ext cx="7772400" cy="365760"/>
          </a:xfrm>
          <a:prstGeom prst="rect">
            <a:avLst/>
          </a:prstGeom>
          <a:noFill/>
          <a:ln/>
        </p:spPr>
        <p:txBody>
          <a:bodyPr wrap="square" rtlCol="0" anchor="ctr"/>
          <a:lstStyle/>
          <a:p>
            <a:pPr indent="0" marL="0">
              <a:buNone/>
            </a:pPr>
            <a:r>
              <a:rPr lang="en-US" sz="1150" dirty="0">
                <a:solidFill>
                  <a:srgbClr val="6B6B6B"/>
                </a:solidFill>
                <a:latin typeface="Calibri" pitchFamily="34" charset="0"/>
                <a:ea typeface="Calibri" pitchFamily="34" charset="-122"/>
                <a:cs typeface="Calibri" pitchFamily="34" charset="-120"/>
              </a:rPr>
              <a:t>What we built and why it's structured this way</a:t>
            </a:r>
            <a:endParaRPr lang="en-US" sz="1150" dirty="0"/>
          </a:p>
        </p:txBody>
      </p:sp>
      <p:sp>
        <p:nvSpPr>
          <p:cNvPr id="9" name="Shape 7"/>
          <p:cNvSpPr/>
          <p:nvPr/>
        </p:nvSpPr>
        <p:spPr>
          <a:xfrm>
            <a:off x="548640" y="2560320"/>
            <a:ext cx="502920" cy="502920"/>
          </a:xfrm>
          <a:prstGeom prst="ellipse">
            <a:avLst/>
          </a:prstGeom>
          <a:solidFill>
            <a:srgbClr val="F0ECFF"/>
          </a:solidFill>
          <a:ln/>
        </p:spPr>
      </p:sp>
      <p:sp>
        <p:nvSpPr>
          <p:cNvPr id="10" name="Text 8"/>
          <p:cNvSpPr/>
          <p:nvPr/>
        </p:nvSpPr>
        <p:spPr>
          <a:xfrm>
            <a:off x="548640" y="2560320"/>
            <a:ext cx="502920" cy="502920"/>
          </a:xfrm>
          <a:prstGeom prst="rect">
            <a:avLst/>
          </a:prstGeom>
          <a:noFill/>
          <a:ln/>
        </p:spPr>
        <p:txBody>
          <a:bodyPr wrap="square" rtlCol="0" anchor="ctr"/>
          <a:lstStyle/>
          <a:p>
            <a:pPr algn="ctr" indent="0" marL="0">
              <a:buNone/>
            </a:pPr>
            <a:r>
              <a:rPr lang="en-US" sz="1400" b="1" dirty="0">
                <a:solidFill>
                  <a:srgbClr val="7856FF"/>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1234440" y="2532888"/>
            <a:ext cx="4572000" cy="365760"/>
          </a:xfrm>
          <a:prstGeom prst="rect">
            <a:avLst/>
          </a:prstGeom>
          <a:noFill/>
          <a:ln/>
        </p:spPr>
        <p:txBody>
          <a:bodyPr wrap="square"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Queue Health</a:t>
            </a:r>
            <a:endParaRPr lang="en-US" sz="1600" dirty="0"/>
          </a:p>
        </p:txBody>
      </p:sp>
      <p:sp>
        <p:nvSpPr>
          <p:cNvPr id="12" name="Text 10"/>
          <p:cNvSpPr/>
          <p:nvPr/>
        </p:nvSpPr>
        <p:spPr>
          <a:xfrm>
            <a:off x="1234440" y="2852928"/>
            <a:ext cx="7772400" cy="365760"/>
          </a:xfrm>
          <a:prstGeom prst="rect">
            <a:avLst/>
          </a:prstGeom>
          <a:noFill/>
          <a:ln/>
        </p:spPr>
        <p:txBody>
          <a:bodyPr wrap="square" rtlCol="0" anchor="ctr"/>
          <a:lstStyle/>
          <a:p>
            <a:pPr indent="0" marL="0">
              <a:buNone/>
            </a:pPr>
            <a:r>
              <a:rPr lang="en-US" sz="1150" dirty="0">
                <a:solidFill>
                  <a:srgbClr val="6B6B6B"/>
                </a:solidFill>
                <a:latin typeface="Calibri" pitchFamily="34" charset="0"/>
                <a:ea typeface="Calibri" pitchFamily="34" charset="-122"/>
                <a:cs typeface="Calibri" pitchFamily="34" charset="-120"/>
              </a:rPr>
              <a:t>Open queue, active load, and response speed</a:t>
            </a:r>
            <a:endParaRPr lang="en-US" sz="1150" dirty="0"/>
          </a:p>
        </p:txBody>
      </p:sp>
      <p:sp>
        <p:nvSpPr>
          <p:cNvPr id="13" name="Shape 11"/>
          <p:cNvSpPr/>
          <p:nvPr/>
        </p:nvSpPr>
        <p:spPr>
          <a:xfrm>
            <a:off x="548640" y="3429000"/>
            <a:ext cx="502920" cy="502920"/>
          </a:xfrm>
          <a:prstGeom prst="ellipse">
            <a:avLst/>
          </a:prstGeom>
          <a:solidFill>
            <a:srgbClr val="F0ECFF"/>
          </a:solidFill>
          <a:ln/>
        </p:spPr>
      </p:sp>
      <p:sp>
        <p:nvSpPr>
          <p:cNvPr id="14" name="Text 12"/>
          <p:cNvSpPr/>
          <p:nvPr/>
        </p:nvSpPr>
        <p:spPr>
          <a:xfrm>
            <a:off x="548640" y="3429000"/>
            <a:ext cx="502920" cy="502920"/>
          </a:xfrm>
          <a:prstGeom prst="rect">
            <a:avLst/>
          </a:prstGeom>
          <a:noFill/>
          <a:ln/>
        </p:spPr>
        <p:txBody>
          <a:bodyPr wrap="square" rtlCol="0" anchor="ctr"/>
          <a:lstStyle/>
          <a:p>
            <a:pPr algn="ctr" indent="0" marL="0">
              <a:buNone/>
            </a:pPr>
            <a:r>
              <a:rPr lang="en-US" sz="1400" b="1" dirty="0">
                <a:solidFill>
                  <a:srgbClr val="7856FF"/>
                </a:solidFill>
                <a:latin typeface="Calibri" pitchFamily="34" charset="0"/>
                <a:ea typeface="Calibri" pitchFamily="34" charset="-122"/>
                <a:cs typeface="Calibri" pitchFamily="34" charset="-120"/>
              </a:rPr>
              <a:t>03</a:t>
            </a:r>
            <a:endParaRPr lang="en-US" sz="1400" dirty="0"/>
          </a:p>
        </p:txBody>
      </p:sp>
      <p:sp>
        <p:nvSpPr>
          <p:cNvPr id="15" name="Text 13"/>
          <p:cNvSpPr/>
          <p:nvPr/>
        </p:nvSpPr>
        <p:spPr>
          <a:xfrm>
            <a:off x="1234440" y="3401568"/>
            <a:ext cx="4572000" cy="365760"/>
          </a:xfrm>
          <a:prstGeom prst="rect">
            <a:avLst/>
          </a:prstGeom>
          <a:noFill/>
          <a:ln/>
        </p:spPr>
        <p:txBody>
          <a:bodyPr wrap="square"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Customer Satisfaction</a:t>
            </a:r>
            <a:endParaRPr lang="en-US" sz="1600" dirty="0"/>
          </a:p>
        </p:txBody>
      </p:sp>
      <p:sp>
        <p:nvSpPr>
          <p:cNvPr id="16" name="Text 14"/>
          <p:cNvSpPr/>
          <p:nvPr/>
        </p:nvSpPr>
        <p:spPr>
          <a:xfrm>
            <a:off x="1234440" y="3721608"/>
            <a:ext cx="7772400" cy="365760"/>
          </a:xfrm>
          <a:prstGeom prst="rect">
            <a:avLst/>
          </a:prstGeom>
          <a:noFill/>
          <a:ln/>
        </p:spPr>
        <p:txBody>
          <a:bodyPr wrap="square" rtlCol="0" anchor="ctr"/>
          <a:lstStyle/>
          <a:p>
            <a:pPr indent="0" marL="0">
              <a:buNone/>
            </a:pPr>
            <a:r>
              <a:rPr lang="en-US" sz="1150" dirty="0">
                <a:solidFill>
                  <a:srgbClr val="6B6B6B"/>
                </a:solidFill>
                <a:latin typeface="Calibri" pitchFamily="34" charset="0"/>
                <a:ea typeface="Calibri" pitchFamily="34" charset="-122"/>
                <a:cs typeface="Calibri" pitchFamily="34" charset="-120"/>
              </a:rPr>
              <a:t>CSAT trends and what's driving them</a:t>
            </a:r>
            <a:endParaRPr lang="en-US" sz="1150" dirty="0"/>
          </a:p>
        </p:txBody>
      </p:sp>
      <p:sp>
        <p:nvSpPr>
          <p:cNvPr id="17" name="Shape 15"/>
          <p:cNvSpPr/>
          <p:nvPr/>
        </p:nvSpPr>
        <p:spPr>
          <a:xfrm>
            <a:off x="548640" y="4297680"/>
            <a:ext cx="502920" cy="502920"/>
          </a:xfrm>
          <a:prstGeom prst="ellipse">
            <a:avLst/>
          </a:prstGeom>
          <a:solidFill>
            <a:srgbClr val="F0ECFF"/>
          </a:solidFill>
          <a:ln/>
        </p:spPr>
      </p:sp>
      <p:sp>
        <p:nvSpPr>
          <p:cNvPr id="18" name="Text 16"/>
          <p:cNvSpPr/>
          <p:nvPr/>
        </p:nvSpPr>
        <p:spPr>
          <a:xfrm>
            <a:off x="548640" y="4297680"/>
            <a:ext cx="502920" cy="502920"/>
          </a:xfrm>
          <a:prstGeom prst="rect">
            <a:avLst/>
          </a:prstGeom>
          <a:noFill/>
          <a:ln/>
        </p:spPr>
        <p:txBody>
          <a:bodyPr wrap="square" rtlCol="0" anchor="ctr"/>
          <a:lstStyle/>
          <a:p>
            <a:pPr algn="ctr" indent="0" marL="0">
              <a:buNone/>
            </a:pPr>
            <a:r>
              <a:rPr lang="en-US" sz="1400" b="1" dirty="0">
                <a:solidFill>
                  <a:srgbClr val="7856FF"/>
                </a:solidFill>
                <a:latin typeface="Calibri" pitchFamily="34" charset="0"/>
                <a:ea typeface="Calibri" pitchFamily="34" charset="-122"/>
                <a:cs typeface="Calibri" pitchFamily="34" charset="-120"/>
              </a:rPr>
              <a:t>04</a:t>
            </a:r>
            <a:endParaRPr lang="en-US" sz="1400" dirty="0"/>
          </a:p>
        </p:txBody>
      </p:sp>
      <p:sp>
        <p:nvSpPr>
          <p:cNvPr id="19" name="Text 17"/>
          <p:cNvSpPr/>
          <p:nvPr/>
        </p:nvSpPr>
        <p:spPr>
          <a:xfrm>
            <a:off x="1234440" y="4270248"/>
            <a:ext cx="4572000" cy="365760"/>
          </a:xfrm>
          <a:prstGeom prst="rect">
            <a:avLst/>
          </a:prstGeom>
          <a:noFill/>
          <a:ln/>
        </p:spPr>
        <p:txBody>
          <a:bodyPr wrap="square"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Channel Behavior</a:t>
            </a:r>
            <a:endParaRPr lang="en-US" sz="1600" dirty="0"/>
          </a:p>
        </p:txBody>
      </p:sp>
      <p:sp>
        <p:nvSpPr>
          <p:cNvPr id="20" name="Text 18"/>
          <p:cNvSpPr/>
          <p:nvPr/>
        </p:nvSpPr>
        <p:spPr>
          <a:xfrm>
            <a:off x="1234440" y="4590288"/>
            <a:ext cx="7772400" cy="365760"/>
          </a:xfrm>
          <a:prstGeom prst="rect">
            <a:avLst/>
          </a:prstGeom>
          <a:noFill/>
          <a:ln/>
        </p:spPr>
        <p:txBody>
          <a:bodyPr wrap="square" rtlCol="0" anchor="ctr"/>
          <a:lstStyle/>
          <a:p>
            <a:pPr indent="0" marL="0">
              <a:buNone/>
            </a:pPr>
            <a:r>
              <a:rPr lang="en-US" sz="1150" dirty="0">
                <a:solidFill>
                  <a:srgbClr val="6B6B6B"/>
                </a:solidFill>
                <a:latin typeface="Calibri" pitchFamily="34" charset="0"/>
                <a:ea typeface="Calibri" pitchFamily="34" charset="-122"/>
                <a:cs typeface="Calibri" pitchFamily="34" charset="-120"/>
              </a:rPr>
              <a:t>Where conversations originate and how that shapes load</a:t>
            </a:r>
            <a:endParaRPr lang="en-US" sz="1150" dirty="0"/>
          </a:p>
        </p:txBody>
      </p:sp>
      <p:sp>
        <p:nvSpPr>
          <p:cNvPr id="21" name="Shape 19"/>
          <p:cNvSpPr/>
          <p:nvPr/>
        </p:nvSpPr>
        <p:spPr>
          <a:xfrm>
            <a:off x="548640" y="5166360"/>
            <a:ext cx="502920" cy="502920"/>
          </a:xfrm>
          <a:prstGeom prst="ellipse">
            <a:avLst/>
          </a:prstGeom>
          <a:solidFill>
            <a:srgbClr val="F0ECFF"/>
          </a:solidFill>
          <a:ln/>
        </p:spPr>
      </p:sp>
      <p:sp>
        <p:nvSpPr>
          <p:cNvPr id="22" name="Text 20"/>
          <p:cNvSpPr/>
          <p:nvPr/>
        </p:nvSpPr>
        <p:spPr>
          <a:xfrm>
            <a:off x="548640" y="5166360"/>
            <a:ext cx="502920" cy="502920"/>
          </a:xfrm>
          <a:prstGeom prst="rect">
            <a:avLst/>
          </a:prstGeom>
          <a:noFill/>
          <a:ln/>
        </p:spPr>
        <p:txBody>
          <a:bodyPr wrap="square" rtlCol="0" anchor="ctr"/>
          <a:lstStyle/>
          <a:p>
            <a:pPr algn="ctr" indent="0" marL="0">
              <a:buNone/>
            </a:pPr>
            <a:r>
              <a:rPr lang="en-US" sz="1400" b="1" dirty="0">
                <a:solidFill>
                  <a:srgbClr val="7856FF"/>
                </a:solidFill>
                <a:latin typeface="Calibri" pitchFamily="34" charset="0"/>
                <a:ea typeface="Calibri" pitchFamily="34" charset="-122"/>
                <a:cs typeface="Calibri" pitchFamily="34" charset="-120"/>
              </a:rPr>
              <a:t>05</a:t>
            </a:r>
            <a:endParaRPr lang="en-US" sz="1400" dirty="0"/>
          </a:p>
        </p:txBody>
      </p:sp>
      <p:sp>
        <p:nvSpPr>
          <p:cNvPr id="23" name="Text 21"/>
          <p:cNvSpPr/>
          <p:nvPr/>
        </p:nvSpPr>
        <p:spPr>
          <a:xfrm>
            <a:off x="1234440" y="5138928"/>
            <a:ext cx="4572000" cy="365760"/>
          </a:xfrm>
          <a:prstGeom prst="rect">
            <a:avLst/>
          </a:prstGeom>
          <a:noFill/>
          <a:ln/>
        </p:spPr>
        <p:txBody>
          <a:bodyPr wrap="square"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Risks &amp; Next Steps</a:t>
            </a:r>
            <a:endParaRPr lang="en-US" sz="1600" dirty="0"/>
          </a:p>
        </p:txBody>
      </p:sp>
      <p:sp>
        <p:nvSpPr>
          <p:cNvPr id="24" name="Text 22"/>
          <p:cNvSpPr/>
          <p:nvPr/>
        </p:nvSpPr>
        <p:spPr>
          <a:xfrm>
            <a:off x="1234440" y="5458968"/>
            <a:ext cx="7772400" cy="365760"/>
          </a:xfrm>
          <a:prstGeom prst="rect">
            <a:avLst/>
          </a:prstGeom>
          <a:noFill/>
          <a:ln/>
        </p:spPr>
        <p:txBody>
          <a:bodyPr wrap="square" rtlCol="0" anchor="ctr"/>
          <a:lstStyle/>
          <a:p>
            <a:pPr indent="0" marL="0">
              <a:buNone/>
            </a:pPr>
            <a:r>
              <a:rPr lang="en-US" sz="1150" dirty="0">
                <a:solidFill>
                  <a:srgbClr val="6B6B6B"/>
                </a:solidFill>
                <a:latin typeface="Calibri" pitchFamily="34" charset="0"/>
                <a:ea typeface="Calibri" pitchFamily="34" charset="-122"/>
                <a:cs typeface="Calibri" pitchFamily="34" charset="-120"/>
              </a:rPr>
              <a:t>What needs attention and proposed actions</a:t>
            </a:r>
            <a:endParaRPr lang="en-US" sz="1150" dirty="0"/>
          </a:p>
        </p:txBody>
      </p:sp>
      <p:sp>
        <p:nvSpPr>
          <p:cNvPr id="25" name="Text 23"/>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548640" y="448056"/>
            <a:ext cx="91440" cy="91440"/>
          </a:xfrm>
          <a:prstGeom prst="ellipse">
            <a:avLst/>
          </a:prstGeom>
          <a:solidFill>
            <a:srgbClr val="7856FF"/>
          </a:solidFill>
          <a:ln/>
        </p:spPr>
      </p:sp>
      <p:sp>
        <p:nvSpPr>
          <p:cNvPr id="3" name="Text 1"/>
          <p:cNvSpPr/>
          <p:nvPr/>
        </p:nvSpPr>
        <p:spPr>
          <a:xfrm>
            <a:off x="749808" y="411480"/>
            <a:ext cx="5486400" cy="228600"/>
          </a:xfrm>
          <a:prstGeom prst="rect">
            <a:avLst/>
          </a:prstGeom>
          <a:noFill/>
          <a:ln/>
        </p:spPr>
        <p:txBody>
          <a:bodyPr wrap="square" rtlCol="0" anchor="ctr"/>
          <a:lstStyle/>
          <a:p>
            <a:pPr indent="0" marL="0">
              <a:buNone/>
            </a:pPr>
            <a:r>
              <a:rPr lang="en-US" sz="1100" b="1" spc="200" kern="0" dirty="0">
                <a:solidFill>
                  <a:srgbClr val="7856FF"/>
                </a:solidFill>
                <a:latin typeface="Calibri" pitchFamily="34" charset="0"/>
                <a:ea typeface="Calibri" pitchFamily="34" charset="-122"/>
                <a:cs typeface="Calibri" pitchFamily="34" charset="-120"/>
              </a:rPr>
              <a:t>01 · THE DASHBOARD</a:t>
            </a:r>
            <a:endParaRPr lang="en-US" sz="1100" dirty="0"/>
          </a:p>
        </p:txBody>
      </p:sp>
      <p:sp>
        <p:nvSpPr>
          <p:cNvPr id="4" name="Text 2"/>
          <p:cNvSpPr/>
          <p:nvPr/>
        </p:nvSpPr>
        <p:spPr>
          <a:xfrm>
            <a:off x="548640" y="685800"/>
            <a:ext cx="9601200" cy="64008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One screen, five layers of context</a:t>
            </a:r>
            <a:endParaRPr lang="en-US" sz="2800" dirty="0"/>
          </a:p>
        </p:txBody>
      </p:sp>
      <p:sp>
        <p:nvSpPr>
          <p:cNvPr id="5" name="Text 3"/>
          <p:cNvSpPr/>
          <p:nvPr/>
        </p:nvSpPr>
        <p:spPr>
          <a:xfrm>
            <a:off x="548640" y="1371600"/>
            <a:ext cx="10607040" cy="548640"/>
          </a:xfrm>
          <a:prstGeom prst="rect">
            <a:avLst/>
          </a:prstGeom>
          <a:noFill/>
          <a:ln/>
        </p:spPr>
        <p:txBody>
          <a:bodyPr wrap="square" rtlCol="0" anchor="ctr"/>
          <a:lstStyle/>
          <a:p>
            <a:pPr indent="0" marL="0">
              <a:buNone/>
            </a:pPr>
            <a:r>
              <a:rPr lang="en-US" sz="1250" dirty="0">
                <a:solidFill>
                  <a:srgbClr val="6B6B6B"/>
                </a:solidFill>
                <a:latin typeface="Calibri" pitchFamily="34" charset="0"/>
                <a:ea typeface="Calibri" pitchFamily="34" charset="-122"/>
                <a:cs typeface="Calibri" pitchFamily="34" charset="-120"/>
              </a:rPr>
              <a:t>The dashboard is built as a single-page support operations view: a KPI strip for headline health, trend charts for volume and response speed, channel mix, and a live feed of queue activity — all on one 12-column grid.</a:t>
            </a:r>
            <a:endParaRPr lang="en-US" sz="1250" dirty="0"/>
          </a:p>
        </p:txBody>
      </p:sp>
      <p:sp>
        <p:nvSpPr>
          <p:cNvPr id="6" name="Shape 4"/>
          <p:cNvSpPr/>
          <p:nvPr/>
        </p:nvSpPr>
        <p:spPr>
          <a:xfrm>
            <a:off x="548640" y="2240280"/>
            <a:ext cx="11064240" cy="603504"/>
          </a:xfrm>
          <a:prstGeom prst="rect">
            <a:avLst/>
          </a:prstGeom>
          <a:solidFill>
            <a:srgbClr val="FFFFFF"/>
          </a:solidFill>
          <a:ln w="12700">
            <a:solidFill>
              <a:srgbClr val="E5E5E5"/>
            </a:solidFill>
            <a:prstDash val="solid"/>
          </a:ln>
          <a:effectLst>
            <a:outerShdw sx="100000" sy="100000" kx="0" ky="0" algn="bl" rotWithShape="0" blurRad="50800" dist="12700" dir="5400000">
              <a:srgbClr val="000000">
                <a:alpha val="5000"/>
              </a:srgbClr>
            </a:outerShdw>
          </a:effectLst>
        </p:spPr>
      </p:sp>
      <p:sp>
        <p:nvSpPr>
          <p:cNvPr id="7" name="Text 5"/>
          <p:cNvSpPr/>
          <p:nvPr/>
        </p:nvSpPr>
        <p:spPr>
          <a:xfrm>
            <a:off x="777240" y="2240280"/>
            <a:ext cx="2377440" cy="603504"/>
          </a:xfrm>
          <a:prstGeom prst="rect">
            <a:avLst/>
          </a:prstGeom>
          <a:noFill/>
          <a:ln/>
        </p:spPr>
        <p:txBody>
          <a:bodyPr wrap="square"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KPI Strip</a:t>
            </a:r>
            <a:endParaRPr lang="en-US" sz="1300" dirty="0"/>
          </a:p>
        </p:txBody>
      </p:sp>
      <p:sp>
        <p:nvSpPr>
          <p:cNvPr id="8" name="Text 6"/>
          <p:cNvSpPr/>
          <p:nvPr/>
        </p:nvSpPr>
        <p:spPr>
          <a:xfrm>
            <a:off x="3200400" y="2240280"/>
            <a:ext cx="1920240" cy="603504"/>
          </a:xfrm>
          <a:prstGeom prst="rect">
            <a:avLst/>
          </a:prstGeom>
          <a:noFill/>
          <a:ln/>
        </p:spPr>
        <p:txBody>
          <a:bodyPr wrap="square" rtlCol="0" anchor="ctr"/>
          <a:lstStyle/>
          <a:p>
            <a:pPr indent="0" marL="0">
              <a:buNone/>
            </a:pPr>
            <a:r>
              <a:rPr lang="en-US" sz="1050" b="1" dirty="0">
                <a:solidFill>
                  <a:srgbClr val="7856FF"/>
                </a:solidFill>
                <a:latin typeface="Calibri" pitchFamily="34" charset="0"/>
                <a:ea typeface="Calibri" pitchFamily="34" charset="-122"/>
                <a:cs typeface="Calibri" pitchFamily="34" charset="-120"/>
              </a:rPr>
              <a:t>4 joined cards</a:t>
            </a:r>
            <a:endParaRPr lang="en-US" sz="1050" dirty="0"/>
          </a:p>
        </p:txBody>
      </p:sp>
      <p:sp>
        <p:nvSpPr>
          <p:cNvPr id="9" name="Text 7"/>
          <p:cNvSpPr/>
          <p:nvPr/>
        </p:nvSpPr>
        <p:spPr>
          <a:xfrm>
            <a:off x="5212080" y="2240280"/>
            <a:ext cx="6217920" cy="603504"/>
          </a:xfrm>
          <a:prstGeom prst="rect">
            <a:avLst/>
          </a:prstGeom>
          <a:noFill/>
          <a:ln/>
        </p:spPr>
        <p:txBody>
          <a:bodyPr wrap="square" rtlCol="0" anchor="ctr"/>
          <a:lstStyle/>
          <a:p>
            <a:pPr indent="0" marL="0">
              <a:buNone/>
            </a:pPr>
            <a:r>
              <a:rPr lang="en-US" sz="1100" dirty="0">
                <a:solidFill>
                  <a:srgbClr val="6B6B6B"/>
                </a:solidFill>
                <a:latin typeface="Calibri" pitchFamily="34" charset="0"/>
                <a:ea typeface="Calibri" pitchFamily="34" charset="-122"/>
                <a:cs typeface="Calibri" pitchFamily="34" charset="-120"/>
              </a:rPr>
              <a:t>Open queue, active conversations, median first reply, CSAT</a:t>
            </a:r>
            <a:endParaRPr lang="en-US" sz="1100" dirty="0"/>
          </a:p>
        </p:txBody>
      </p:sp>
      <p:sp>
        <p:nvSpPr>
          <p:cNvPr id="10" name="Shape 8"/>
          <p:cNvSpPr/>
          <p:nvPr/>
        </p:nvSpPr>
        <p:spPr>
          <a:xfrm>
            <a:off x="548640" y="2953512"/>
            <a:ext cx="11064240" cy="603504"/>
          </a:xfrm>
          <a:prstGeom prst="rect">
            <a:avLst/>
          </a:prstGeom>
          <a:solidFill>
            <a:srgbClr val="FFFFFF"/>
          </a:solidFill>
          <a:ln w="12700">
            <a:solidFill>
              <a:srgbClr val="E5E5E5"/>
            </a:solidFill>
            <a:prstDash val="solid"/>
          </a:ln>
          <a:effectLst>
            <a:outerShdw sx="100000" sy="100000" kx="0" ky="0" algn="bl" rotWithShape="0" blurRad="50800" dist="12700" dir="5400000">
              <a:srgbClr val="000000">
                <a:alpha val="5000"/>
              </a:srgbClr>
            </a:outerShdw>
          </a:effectLst>
        </p:spPr>
      </p:sp>
      <p:sp>
        <p:nvSpPr>
          <p:cNvPr id="11" name="Text 9"/>
          <p:cNvSpPr/>
          <p:nvPr/>
        </p:nvSpPr>
        <p:spPr>
          <a:xfrm>
            <a:off x="777240" y="2953512"/>
            <a:ext cx="2377440" cy="603504"/>
          </a:xfrm>
          <a:prstGeom prst="rect">
            <a:avLst/>
          </a:prstGeom>
          <a:noFill/>
          <a:ln/>
        </p:spPr>
        <p:txBody>
          <a:bodyPr wrap="square"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Volume + Channel</a:t>
            </a:r>
            <a:endParaRPr lang="en-US" sz="1300" dirty="0"/>
          </a:p>
        </p:txBody>
      </p:sp>
      <p:sp>
        <p:nvSpPr>
          <p:cNvPr id="12" name="Text 10"/>
          <p:cNvSpPr/>
          <p:nvPr/>
        </p:nvSpPr>
        <p:spPr>
          <a:xfrm>
            <a:off x="3200400" y="2953512"/>
            <a:ext cx="1920240" cy="603504"/>
          </a:xfrm>
          <a:prstGeom prst="rect">
            <a:avLst/>
          </a:prstGeom>
          <a:noFill/>
          <a:ln/>
        </p:spPr>
        <p:txBody>
          <a:bodyPr wrap="square" rtlCol="0" anchor="ctr"/>
          <a:lstStyle/>
          <a:p>
            <a:pPr indent="0" marL="0">
              <a:buNone/>
            </a:pPr>
            <a:r>
              <a:rPr lang="en-US" sz="1050" b="1" dirty="0">
                <a:solidFill>
                  <a:srgbClr val="7856FF"/>
                </a:solidFill>
                <a:latin typeface="Calibri" pitchFamily="34" charset="0"/>
                <a:ea typeface="Calibri" pitchFamily="34" charset="-122"/>
                <a:cs typeface="Calibri" pitchFamily="34" charset="-120"/>
              </a:rPr>
              <a:t>8-col + 4-col</a:t>
            </a:r>
            <a:endParaRPr lang="en-US" sz="1050" dirty="0"/>
          </a:p>
        </p:txBody>
      </p:sp>
      <p:sp>
        <p:nvSpPr>
          <p:cNvPr id="13" name="Text 11"/>
          <p:cNvSpPr/>
          <p:nvPr/>
        </p:nvSpPr>
        <p:spPr>
          <a:xfrm>
            <a:off x="5212080" y="2953512"/>
            <a:ext cx="6217920" cy="603504"/>
          </a:xfrm>
          <a:prstGeom prst="rect">
            <a:avLst/>
          </a:prstGeom>
          <a:noFill/>
          <a:ln/>
        </p:spPr>
        <p:txBody>
          <a:bodyPr wrap="square" rtlCol="0" anchor="ctr"/>
          <a:lstStyle/>
          <a:p>
            <a:pPr indent="0" marL="0">
              <a:buNone/>
            </a:pPr>
            <a:r>
              <a:rPr lang="en-US" sz="1100" dirty="0">
                <a:solidFill>
                  <a:srgbClr val="6B6B6B"/>
                </a:solidFill>
                <a:latin typeface="Calibri" pitchFamily="34" charset="0"/>
                <a:ea typeface="Calibri" pitchFamily="34" charset="-122"/>
                <a:cs typeface="Calibri" pitchFamily="34" charset="-120"/>
              </a:rPr>
              <a:t>Conversation trend over 30 days, channel split donut</a:t>
            </a:r>
            <a:endParaRPr lang="en-US" sz="1100" dirty="0"/>
          </a:p>
        </p:txBody>
      </p:sp>
      <p:sp>
        <p:nvSpPr>
          <p:cNvPr id="14" name="Shape 12"/>
          <p:cNvSpPr/>
          <p:nvPr/>
        </p:nvSpPr>
        <p:spPr>
          <a:xfrm>
            <a:off x="548640" y="3666744"/>
            <a:ext cx="11064240" cy="603504"/>
          </a:xfrm>
          <a:prstGeom prst="rect">
            <a:avLst/>
          </a:prstGeom>
          <a:solidFill>
            <a:srgbClr val="FFFFFF"/>
          </a:solidFill>
          <a:ln w="12700">
            <a:solidFill>
              <a:srgbClr val="E5E5E5"/>
            </a:solidFill>
            <a:prstDash val="solid"/>
          </a:ln>
          <a:effectLst>
            <a:outerShdw sx="100000" sy="100000" kx="0" ky="0" algn="bl" rotWithShape="0" blurRad="50800" dist="12700" dir="5400000">
              <a:srgbClr val="000000">
                <a:alpha val="5000"/>
              </a:srgbClr>
            </a:outerShdw>
          </a:effectLst>
        </p:spPr>
      </p:sp>
      <p:sp>
        <p:nvSpPr>
          <p:cNvPr id="15" name="Text 13"/>
          <p:cNvSpPr/>
          <p:nvPr/>
        </p:nvSpPr>
        <p:spPr>
          <a:xfrm>
            <a:off x="777240" y="3666744"/>
            <a:ext cx="2377440" cy="603504"/>
          </a:xfrm>
          <a:prstGeom prst="rect">
            <a:avLst/>
          </a:prstGeom>
          <a:noFill/>
          <a:ln/>
        </p:spPr>
        <p:txBody>
          <a:bodyPr wrap="square"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CSAT + Reply Time</a:t>
            </a:r>
            <a:endParaRPr lang="en-US" sz="1300" dirty="0"/>
          </a:p>
        </p:txBody>
      </p:sp>
      <p:sp>
        <p:nvSpPr>
          <p:cNvPr id="16" name="Text 14"/>
          <p:cNvSpPr/>
          <p:nvPr/>
        </p:nvSpPr>
        <p:spPr>
          <a:xfrm>
            <a:off x="3200400" y="3666744"/>
            <a:ext cx="1920240" cy="603504"/>
          </a:xfrm>
          <a:prstGeom prst="rect">
            <a:avLst/>
          </a:prstGeom>
          <a:noFill/>
          <a:ln/>
        </p:spPr>
        <p:txBody>
          <a:bodyPr wrap="square" rtlCol="0" anchor="ctr"/>
          <a:lstStyle/>
          <a:p>
            <a:pPr indent="0" marL="0">
              <a:buNone/>
            </a:pPr>
            <a:r>
              <a:rPr lang="en-US" sz="1050" b="1" dirty="0">
                <a:solidFill>
                  <a:srgbClr val="7856FF"/>
                </a:solidFill>
                <a:latin typeface="Calibri" pitchFamily="34" charset="0"/>
                <a:ea typeface="Calibri" pitchFamily="34" charset="-122"/>
                <a:cs typeface="Calibri" pitchFamily="34" charset="-120"/>
              </a:rPr>
              <a:t>6-col + 6-col</a:t>
            </a:r>
            <a:endParaRPr lang="en-US" sz="1050" dirty="0"/>
          </a:p>
        </p:txBody>
      </p:sp>
      <p:sp>
        <p:nvSpPr>
          <p:cNvPr id="17" name="Text 15"/>
          <p:cNvSpPr/>
          <p:nvPr/>
        </p:nvSpPr>
        <p:spPr>
          <a:xfrm>
            <a:off x="5212080" y="3666744"/>
            <a:ext cx="6217920" cy="603504"/>
          </a:xfrm>
          <a:prstGeom prst="rect">
            <a:avLst/>
          </a:prstGeom>
          <a:noFill/>
          <a:ln/>
        </p:spPr>
        <p:txBody>
          <a:bodyPr wrap="square" rtlCol="0" anchor="ctr"/>
          <a:lstStyle/>
          <a:p>
            <a:pPr indent="0" marL="0">
              <a:buNone/>
            </a:pPr>
            <a:r>
              <a:rPr lang="en-US" sz="1100" dirty="0">
                <a:solidFill>
                  <a:srgbClr val="6B6B6B"/>
                </a:solidFill>
                <a:latin typeface="Calibri" pitchFamily="34" charset="0"/>
                <a:ea typeface="Calibri" pitchFamily="34" charset="-122"/>
                <a:cs typeface="Calibri" pitchFamily="34" charset="-120"/>
              </a:rPr>
              <a:t>Survey volume by channel, response time trend</a:t>
            </a:r>
            <a:endParaRPr lang="en-US" sz="1100" dirty="0"/>
          </a:p>
        </p:txBody>
      </p:sp>
      <p:sp>
        <p:nvSpPr>
          <p:cNvPr id="18" name="Shape 16"/>
          <p:cNvSpPr/>
          <p:nvPr/>
        </p:nvSpPr>
        <p:spPr>
          <a:xfrm>
            <a:off x="548640" y="4379976"/>
            <a:ext cx="11064240" cy="603504"/>
          </a:xfrm>
          <a:prstGeom prst="rect">
            <a:avLst/>
          </a:prstGeom>
          <a:solidFill>
            <a:srgbClr val="FFFFFF"/>
          </a:solidFill>
          <a:ln w="12700">
            <a:solidFill>
              <a:srgbClr val="E5E5E5"/>
            </a:solidFill>
            <a:prstDash val="solid"/>
          </a:ln>
          <a:effectLst>
            <a:outerShdw sx="100000" sy="100000" kx="0" ky="0" algn="bl" rotWithShape="0" blurRad="50800" dist="12700" dir="5400000">
              <a:srgbClr val="000000">
                <a:alpha val="5000"/>
              </a:srgbClr>
            </a:outerShdw>
          </a:effectLst>
        </p:spPr>
      </p:sp>
      <p:sp>
        <p:nvSpPr>
          <p:cNvPr id="19" name="Text 17"/>
          <p:cNvSpPr/>
          <p:nvPr/>
        </p:nvSpPr>
        <p:spPr>
          <a:xfrm>
            <a:off x="777240" y="4379976"/>
            <a:ext cx="2377440" cy="603504"/>
          </a:xfrm>
          <a:prstGeom prst="rect">
            <a:avLst/>
          </a:prstGeom>
          <a:noFill/>
          <a:ln/>
        </p:spPr>
        <p:txBody>
          <a:bodyPr wrap="square"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Sparkline KPIs</a:t>
            </a:r>
            <a:endParaRPr lang="en-US" sz="1300" dirty="0"/>
          </a:p>
        </p:txBody>
      </p:sp>
      <p:sp>
        <p:nvSpPr>
          <p:cNvPr id="20" name="Text 18"/>
          <p:cNvSpPr/>
          <p:nvPr/>
        </p:nvSpPr>
        <p:spPr>
          <a:xfrm>
            <a:off x="3200400" y="4379976"/>
            <a:ext cx="1920240" cy="603504"/>
          </a:xfrm>
          <a:prstGeom prst="rect">
            <a:avLst/>
          </a:prstGeom>
          <a:noFill/>
          <a:ln/>
        </p:spPr>
        <p:txBody>
          <a:bodyPr wrap="square" rtlCol="0" anchor="ctr"/>
          <a:lstStyle/>
          <a:p>
            <a:pPr indent="0" marL="0">
              <a:buNone/>
            </a:pPr>
            <a:r>
              <a:rPr lang="en-US" sz="1050" b="1" dirty="0">
                <a:solidFill>
                  <a:srgbClr val="7856FF"/>
                </a:solidFill>
                <a:latin typeface="Calibri" pitchFamily="34" charset="0"/>
                <a:ea typeface="Calibri" pitchFamily="34" charset="-122"/>
                <a:cs typeface="Calibri" pitchFamily="34" charset="-120"/>
              </a:rPr>
              <a:t>4 × 3-col</a:t>
            </a:r>
            <a:endParaRPr lang="en-US" sz="1050" dirty="0"/>
          </a:p>
        </p:txBody>
      </p:sp>
      <p:sp>
        <p:nvSpPr>
          <p:cNvPr id="21" name="Text 19"/>
          <p:cNvSpPr/>
          <p:nvPr/>
        </p:nvSpPr>
        <p:spPr>
          <a:xfrm>
            <a:off x="5212080" y="4379976"/>
            <a:ext cx="6217920" cy="603504"/>
          </a:xfrm>
          <a:prstGeom prst="rect">
            <a:avLst/>
          </a:prstGeom>
          <a:noFill/>
          <a:ln/>
        </p:spPr>
        <p:txBody>
          <a:bodyPr wrap="square" rtlCol="0" anchor="ctr"/>
          <a:lstStyle/>
          <a:p>
            <a:pPr indent="0" marL="0">
              <a:buNone/>
            </a:pPr>
            <a:r>
              <a:rPr lang="en-US" sz="1100" dirty="0">
                <a:solidFill>
                  <a:srgbClr val="6B6B6B"/>
                </a:solidFill>
                <a:latin typeface="Calibri" pitchFamily="34" charset="0"/>
                <a:ea typeface="Calibri" pitchFamily="34" charset="-122"/>
                <a:cs typeface="Calibri" pitchFamily="34" charset="-120"/>
              </a:rPr>
              <a:t>Resolved, handle time, reopens, escalations at a glance</a:t>
            </a:r>
            <a:endParaRPr lang="en-US" sz="1100" dirty="0"/>
          </a:p>
        </p:txBody>
      </p:sp>
      <p:sp>
        <p:nvSpPr>
          <p:cNvPr id="22" name="Shape 20"/>
          <p:cNvSpPr/>
          <p:nvPr/>
        </p:nvSpPr>
        <p:spPr>
          <a:xfrm>
            <a:off x="548640" y="5093208"/>
            <a:ext cx="11064240" cy="603504"/>
          </a:xfrm>
          <a:prstGeom prst="rect">
            <a:avLst/>
          </a:prstGeom>
          <a:solidFill>
            <a:srgbClr val="FFFFFF"/>
          </a:solidFill>
          <a:ln w="12700">
            <a:solidFill>
              <a:srgbClr val="E5E5E5"/>
            </a:solidFill>
            <a:prstDash val="solid"/>
          </a:ln>
          <a:effectLst>
            <a:outerShdw sx="100000" sy="100000" kx="0" ky="0" algn="bl" rotWithShape="0" blurRad="50800" dist="12700" dir="5400000">
              <a:srgbClr val="000000">
                <a:alpha val="5000"/>
              </a:srgbClr>
            </a:outerShdw>
          </a:effectLst>
        </p:spPr>
      </p:sp>
      <p:sp>
        <p:nvSpPr>
          <p:cNvPr id="23" name="Text 21"/>
          <p:cNvSpPr/>
          <p:nvPr/>
        </p:nvSpPr>
        <p:spPr>
          <a:xfrm>
            <a:off x="777240" y="5093208"/>
            <a:ext cx="2377440" cy="603504"/>
          </a:xfrm>
          <a:prstGeom prst="rect">
            <a:avLst/>
          </a:prstGeom>
          <a:noFill/>
          <a:ln/>
        </p:spPr>
        <p:txBody>
          <a:bodyPr wrap="square"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Activity + Tickets</a:t>
            </a:r>
            <a:endParaRPr lang="en-US" sz="1300" dirty="0"/>
          </a:p>
        </p:txBody>
      </p:sp>
      <p:sp>
        <p:nvSpPr>
          <p:cNvPr id="24" name="Text 22"/>
          <p:cNvSpPr/>
          <p:nvPr/>
        </p:nvSpPr>
        <p:spPr>
          <a:xfrm>
            <a:off x="3200400" y="5093208"/>
            <a:ext cx="1920240" cy="603504"/>
          </a:xfrm>
          <a:prstGeom prst="rect">
            <a:avLst/>
          </a:prstGeom>
          <a:noFill/>
          <a:ln/>
        </p:spPr>
        <p:txBody>
          <a:bodyPr wrap="square" rtlCol="0" anchor="ctr"/>
          <a:lstStyle/>
          <a:p>
            <a:pPr indent="0" marL="0">
              <a:buNone/>
            </a:pPr>
            <a:r>
              <a:rPr lang="en-US" sz="1050" b="1" dirty="0">
                <a:solidFill>
                  <a:srgbClr val="7856FF"/>
                </a:solidFill>
                <a:latin typeface="Calibri" pitchFamily="34" charset="0"/>
                <a:ea typeface="Calibri" pitchFamily="34" charset="-122"/>
                <a:cs typeface="Calibri" pitchFamily="34" charset="-120"/>
              </a:rPr>
              <a:t>6-col + 6-col</a:t>
            </a:r>
            <a:endParaRPr lang="en-US" sz="1050" dirty="0"/>
          </a:p>
        </p:txBody>
      </p:sp>
      <p:sp>
        <p:nvSpPr>
          <p:cNvPr id="25" name="Text 23"/>
          <p:cNvSpPr/>
          <p:nvPr/>
        </p:nvSpPr>
        <p:spPr>
          <a:xfrm>
            <a:off x="5212080" y="5093208"/>
            <a:ext cx="6217920" cy="603504"/>
          </a:xfrm>
          <a:prstGeom prst="rect">
            <a:avLst/>
          </a:prstGeom>
          <a:noFill/>
          <a:ln/>
        </p:spPr>
        <p:txBody>
          <a:bodyPr wrap="square" rtlCol="0" anchor="ctr"/>
          <a:lstStyle/>
          <a:p>
            <a:pPr indent="0" marL="0">
              <a:buNone/>
            </a:pPr>
            <a:r>
              <a:rPr lang="en-US" sz="1100" dirty="0">
                <a:solidFill>
                  <a:srgbClr val="6B6B6B"/>
                </a:solidFill>
                <a:latin typeface="Calibri" pitchFamily="34" charset="0"/>
                <a:ea typeface="Calibri" pitchFamily="34" charset="-122"/>
                <a:cs typeface="Calibri" pitchFamily="34" charset="-120"/>
              </a:rPr>
              <a:t>Live event feed and the current open queue table</a:t>
            </a:r>
            <a:endParaRPr lang="en-US" sz="1100" dirty="0"/>
          </a:p>
        </p:txBody>
      </p:sp>
      <p:sp>
        <p:nvSpPr>
          <p:cNvPr id="26" name="Text 24"/>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548640" y="448056"/>
            <a:ext cx="91440" cy="91440"/>
          </a:xfrm>
          <a:prstGeom prst="ellipse">
            <a:avLst/>
          </a:prstGeom>
          <a:solidFill>
            <a:srgbClr val="7856FF"/>
          </a:solidFill>
          <a:ln/>
        </p:spPr>
      </p:sp>
      <p:sp>
        <p:nvSpPr>
          <p:cNvPr id="3" name="Text 1"/>
          <p:cNvSpPr/>
          <p:nvPr/>
        </p:nvSpPr>
        <p:spPr>
          <a:xfrm>
            <a:off x="749808" y="411480"/>
            <a:ext cx="5486400" cy="228600"/>
          </a:xfrm>
          <a:prstGeom prst="rect">
            <a:avLst/>
          </a:prstGeom>
          <a:noFill/>
          <a:ln/>
        </p:spPr>
        <p:txBody>
          <a:bodyPr wrap="square" rtlCol="0" anchor="ctr"/>
          <a:lstStyle/>
          <a:p>
            <a:pPr indent="0" marL="0">
              <a:buNone/>
            </a:pPr>
            <a:r>
              <a:rPr lang="en-US" sz="1100" b="1" spc="200" kern="0" dirty="0">
                <a:solidFill>
                  <a:srgbClr val="7856FF"/>
                </a:solidFill>
                <a:latin typeface="Calibri" pitchFamily="34" charset="0"/>
                <a:ea typeface="Calibri" pitchFamily="34" charset="-122"/>
                <a:cs typeface="Calibri" pitchFamily="34" charset="-120"/>
              </a:rPr>
              <a:t>02 · QUEUE HEALTH</a:t>
            </a:r>
            <a:endParaRPr lang="en-US" sz="1100" dirty="0"/>
          </a:p>
        </p:txBody>
      </p:sp>
      <p:sp>
        <p:nvSpPr>
          <p:cNvPr id="4" name="Text 2"/>
          <p:cNvSpPr/>
          <p:nvPr/>
        </p:nvSpPr>
        <p:spPr>
          <a:xfrm>
            <a:off x="548640" y="685800"/>
            <a:ext cx="9601200" cy="64008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Where the queue stands today</a:t>
            </a:r>
            <a:endParaRPr lang="en-US" sz="2800" dirty="0"/>
          </a:p>
        </p:txBody>
      </p:sp>
      <p:sp>
        <p:nvSpPr>
          <p:cNvPr id="5" name="Shape 3"/>
          <p:cNvSpPr/>
          <p:nvPr/>
        </p:nvSpPr>
        <p:spPr>
          <a:xfrm>
            <a:off x="548640" y="1600200"/>
            <a:ext cx="2606040" cy="173736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6000"/>
              </a:srgbClr>
            </a:outerShdw>
          </a:effectLst>
        </p:spPr>
      </p:sp>
      <p:sp>
        <p:nvSpPr>
          <p:cNvPr id="6" name="Text 4"/>
          <p:cNvSpPr/>
          <p:nvPr/>
        </p:nvSpPr>
        <p:spPr>
          <a:xfrm>
            <a:off x="749808" y="1783080"/>
            <a:ext cx="2240280" cy="274320"/>
          </a:xfrm>
          <a:prstGeom prst="rect">
            <a:avLst/>
          </a:prstGeom>
          <a:noFill/>
          <a:ln/>
        </p:spPr>
        <p:txBody>
          <a:bodyPr wrap="square" rtlCol="0" anchor="ctr"/>
          <a:lstStyle/>
          <a:p>
            <a:pPr indent="0" marL="0">
              <a:buNone/>
            </a:pPr>
            <a:r>
              <a:rPr lang="en-US" sz="950" b="1" spc="100" kern="0" dirty="0">
                <a:solidFill>
                  <a:srgbClr val="6B6B6B"/>
                </a:solidFill>
                <a:latin typeface="Calibri" pitchFamily="34" charset="0"/>
                <a:ea typeface="Calibri" pitchFamily="34" charset="-122"/>
                <a:cs typeface="Calibri" pitchFamily="34" charset="-120"/>
              </a:rPr>
              <a:t>OPEN QUEUE</a:t>
            </a:r>
            <a:endParaRPr lang="en-US" sz="950" dirty="0"/>
          </a:p>
        </p:txBody>
      </p:sp>
      <p:sp>
        <p:nvSpPr>
          <p:cNvPr id="7" name="Text 5"/>
          <p:cNvSpPr/>
          <p:nvPr/>
        </p:nvSpPr>
        <p:spPr>
          <a:xfrm>
            <a:off x="731520" y="2057400"/>
            <a:ext cx="2240280" cy="685800"/>
          </a:xfrm>
          <a:prstGeom prst="rect">
            <a:avLst/>
          </a:prstGeom>
          <a:noFill/>
          <a:ln/>
        </p:spPr>
        <p:txBody>
          <a:bodyPr wrap="square" rtlCol="0" anchor="ctr"/>
          <a:lstStyle/>
          <a:p>
            <a:pPr indent="0" marL="0">
              <a:buNone/>
            </a:pPr>
            <a:r>
              <a:rPr lang="en-US" sz="3800" b="1" dirty="0">
                <a:solidFill>
                  <a:srgbClr val="1A1A1A"/>
                </a:solidFill>
                <a:latin typeface="Cambria" pitchFamily="34" charset="0"/>
                <a:ea typeface="Cambria" pitchFamily="34" charset="-122"/>
                <a:cs typeface="Cambria" pitchFamily="34" charset="-120"/>
              </a:rPr>
              <a:t>38</a:t>
            </a:r>
            <a:endParaRPr lang="en-US" sz="3800" dirty="0"/>
          </a:p>
        </p:txBody>
      </p:sp>
      <p:sp>
        <p:nvSpPr>
          <p:cNvPr id="8" name="Shape 6"/>
          <p:cNvSpPr/>
          <p:nvPr/>
        </p:nvSpPr>
        <p:spPr>
          <a:xfrm>
            <a:off x="749808" y="2862072"/>
            <a:ext cx="1188720" cy="292608"/>
          </a:xfrm>
          <a:prstGeom prst="roundRect">
            <a:avLst>
              <a:gd name="adj" fmla="val 18750"/>
            </a:avLst>
          </a:prstGeom>
          <a:solidFill>
            <a:srgbClr val="DCFCE7"/>
          </a:solidFill>
          <a:ln/>
        </p:spPr>
      </p:sp>
      <p:sp>
        <p:nvSpPr>
          <p:cNvPr id="9" name="Text 7"/>
          <p:cNvSpPr/>
          <p:nvPr/>
        </p:nvSpPr>
        <p:spPr>
          <a:xfrm>
            <a:off x="749808" y="2862072"/>
            <a:ext cx="1188720" cy="292608"/>
          </a:xfrm>
          <a:prstGeom prst="rect">
            <a:avLst/>
          </a:prstGeom>
          <a:noFill/>
          <a:ln/>
        </p:spPr>
        <p:txBody>
          <a:bodyPr wrap="square" rtlCol="0" anchor="ctr"/>
          <a:lstStyle/>
          <a:p>
            <a:pPr algn="ctr" indent="0" marL="0">
              <a:buNone/>
            </a:pPr>
            <a:r>
              <a:rPr lang="en-US" sz="1050" b="1" dirty="0">
                <a:solidFill>
                  <a:srgbClr val="16A34A"/>
                </a:solidFill>
                <a:latin typeface="Calibri" pitchFamily="34" charset="0"/>
                <a:ea typeface="Calibri" pitchFamily="34" charset="-122"/>
                <a:cs typeface="Calibri" pitchFamily="34" charset="-120"/>
              </a:rPr>
              <a:t>↓ 12.4%</a:t>
            </a:r>
            <a:endParaRPr lang="en-US" sz="1050" dirty="0"/>
          </a:p>
        </p:txBody>
      </p:sp>
      <p:sp>
        <p:nvSpPr>
          <p:cNvPr id="10" name="Text 8"/>
          <p:cNvSpPr/>
          <p:nvPr/>
        </p:nvSpPr>
        <p:spPr>
          <a:xfrm>
            <a:off x="2011680" y="2862072"/>
            <a:ext cx="1051560" cy="292608"/>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vs yesterday</a:t>
            </a:r>
            <a:endParaRPr lang="en-US" sz="900" dirty="0"/>
          </a:p>
        </p:txBody>
      </p:sp>
      <p:sp>
        <p:nvSpPr>
          <p:cNvPr id="11" name="Shape 9"/>
          <p:cNvSpPr/>
          <p:nvPr/>
        </p:nvSpPr>
        <p:spPr>
          <a:xfrm>
            <a:off x="3319272" y="1600200"/>
            <a:ext cx="2606040" cy="173736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6000"/>
              </a:srgbClr>
            </a:outerShdw>
          </a:effectLst>
        </p:spPr>
      </p:sp>
      <p:sp>
        <p:nvSpPr>
          <p:cNvPr id="12" name="Text 10"/>
          <p:cNvSpPr/>
          <p:nvPr/>
        </p:nvSpPr>
        <p:spPr>
          <a:xfrm>
            <a:off x="3520440" y="1783080"/>
            <a:ext cx="2240280" cy="274320"/>
          </a:xfrm>
          <a:prstGeom prst="rect">
            <a:avLst/>
          </a:prstGeom>
          <a:noFill/>
          <a:ln/>
        </p:spPr>
        <p:txBody>
          <a:bodyPr wrap="square" rtlCol="0" anchor="ctr"/>
          <a:lstStyle/>
          <a:p>
            <a:pPr indent="0" marL="0">
              <a:buNone/>
            </a:pPr>
            <a:r>
              <a:rPr lang="en-US" sz="950" b="1" spc="100" kern="0" dirty="0">
                <a:solidFill>
                  <a:srgbClr val="6B6B6B"/>
                </a:solidFill>
                <a:latin typeface="Calibri" pitchFamily="34" charset="0"/>
                <a:ea typeface="Calibri" pitchFamily="34" charset="-122"/>
                <a:cs typeface="Calibri" pitchFamily="34" charset="-120"/>
              </a:rPr>
              <a:t>ACTIVE CONVERSATIONS</a:t>
            </a:r>
            <a:endParaRPr lang="en-US" sz="950" dirty="0"/>
          </a:p>
        </p:txBody>
      </p:sp>
      <p:sp>
        <p:nvSpPr>
          <p:cNvPr id="13" name="Text 11"/>
          <p:cNvSpPr/>
          <p:nvPr/>
        </p:nvSpPr>
        <p:spPr>
          <a:xfrm>
            <a:off x="3502152" y="2057400"/>
            <a:ext cx="2240280" cy="685800"/>
          </a:xfrm>
          <a:prstGeom prst="rect">
            <a:avLst/>
          </a:prstGeom>
          <a:noFill/>
          <a:ln/>
        </p:spPr>
        <p:txBody>
          <a:bodyPr wrap="square" rtlCol="0" anchor="ctr"/>
          <a:lstStyle/>
          <a:p>
            <a:pPr indent="0" marL="0">
              <a:buNone/>
            </a:pPr>
            <a:r>
              <a:rPr lang="en-US" sz="3800" b="1" dirty="0">
                <a:solidFill>
                  <a:srgbClr val="1A1A1A"/>
                </a:solidFill>
                <a:latin typeface="Cambria" pitchFamily="34" charset="0"/>
                <a:ea typeface="Cambria" pitchFamily="34" charset="-122"/>
                <a:cs typeface="Cambria" pitchFamily="34" charset="-120"/>
              </a:rPr>
              <a:t>126</a:t>
            </a:r>
            <a:endParaRPr lang="en-US" sz="3800" dirty="0"/>
          </a:p>
        </p:txBody>
      </p:sp>
      <p:sp>
        <p:nvSpPr>
          <p:cNvPr id="14" name="Shape 12"/>
          <p:cNvSpPr/>
          <p:nvPr/>
        </p:nvSpPr>
        <p:spPr>
          <a:xfrm>
            <a:off x="3520440" y="2862072"/>
            <a:ext cx="1188720" cy="292608"/>
          </a:xfrm>
          <a:prstGeom prst="roundRect">
            <a:avLst>
              <a:gd name="adj" fmla="val 18750"/>
            </a:avLst>
          </a:prstGeom>
          <a:solidFill>
            <a:srgbClr val="DCFCE7"/>
          </a:solidFill>
          <a:ln/>
        </p:spPr>
      </p:sp>
      <p:sp>
        <p:nvSpPr>
          <p:cNvPr id="15" name="Text 13"/>
          <p:cNvSpPr/>
          <p:nvPr/>
        </p:nvSpPr>
        <p:spPr>
          <a:xfrm>
            <a:off x="3520440" y="2862072"/>
            <a:ext cx="1188720" cy="292608"/>
          </a:xfrm>
          <a:prstGeom prst="rect">
            <a:avLst/>
          </a:prstGeom>
          <a:noFill/>
          <a:ln/>
        </p:spPr>
        <p:txBody>
          <a:bodyPr wrap="square" rtlCol="0" anchor="ctr"/>
          <a:lstStyle/>
          <a:p>
            <a:pPr algn="ctr" indent="0" marL="0">
              <a:buNone/>
            </a:pPr>
            <a:r>
              <a:rPr lang="en-US" sz="1050" b="1" dirty="0">
                <a:solidFill>
                  <a:srgbClr val="16A34A"/>
                </a:solidFill>
                <a:latin typeface="Calibri" pitchFamily="34" charset="0"/>
                <a:ea typeface="Calibri" pitchFamily="34" charset="-122"/>
                <a:cs typeface="Calibri" pitchFamily="34" charset="-120"/>
              </a:rPr>
              <a:t>↑ 5.2%</a:t>
            </a:r>
            <a:endParaRPr lang="en-US" sz="1050" dirty="0"/>
          </a:p>
        </p:txBody>
      </p:sp>
      <p:sp>
        <p:nvSpPr>
          <p:cNvPr id="16" name="Text 14"/>
          <p:cNvSpPr/>
          <p:nvPr/>
        </p:nvSpPr>
        <p:spPr>
          <a:xfrm>
            <a:off x="4782312" y="2862072"/>
            <a:ext cx="1051560" cy="292608"/>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vs last week</a:t>
            </a:r>
            <a:endParaRPr lang="en-US" sz="900" dirty="0"/>
          </a:p>
        </p:txBody>
      </p:sp>
      <p:sp>
        <p:nvSpPr>
          <p:cNvPr id="17" name="Shape 15"/>
          <p:cNvSpPr/>
          <p:nvPr/>
        </p:nvSpPr>
        <p:spPr>
          <a:xfrm>
            <a:off x="6089904" y="1600200"/>
            <a:ext cx="2606040" cy="173736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6000"/>
              </a:srgbClr>
            </a:outerShdw>
          </a:effectLst>
        </p:spPr>
      </p:sp>
      <p:sp>
        <p:nvSpPr>
          <p:cNvPr id="18" name="Text 16"/>
          <p:cNvSpPr/>
          <p:nvPr/>
        </p:nvSpPr>
        <p:spPr>
          <a:xfrm>
            <a:off x="6291072" y="1783080"/>
            <a:ext cx="2240280" cy="274320"/>
          </a:xfrm>
          <a:prstGeom prst="rect">
            <a:avLst/>
          </a:prstGeom>
          <a:noFill/>
          <a:ln/>
        </p:spPr>
        <p:txBody>
          <a:bodyPr wrap="square" rtlCol="0" anchor="ctr"/>
          <a:lstStyle/>
          <a:p>
            <a:pPr indent="0" marL="0">
              <a:buNone/>
            </a:pPr>
            <a:r>
              <a:rPr lang="en-US" sz="950" b="1" spc="100" kern="0" dirty="0">
                <a:solidFill>
                  <a:srgbClr val="6B6B6B"/>
                </a:solidFill>
                <a:latin typeface="Calibri" pitchFamily="34" charset="0"/>
                <a:ea typeface="Calibri" pitchFamily="34" charset="-122"/>
                <a:cs typeface="Calibri" pitchFamily="34" charset="-120"/>
              </a:rPr>
              <a:t>MEDIAN FIRST REPLY</a:t>
            </a:r>
            <a:endParaRPr lang="en-US" sz="950" dirty="0"/>
          </a:p>
        </p:txBody>
      </p:sp>
      <p:sp>
        <p:nvSpPr>
          <p:cNvPr id="19" name="Text 17"/>
          <p:cNvSpPr/>
          <p:nvPr/>
        </p:nvSpPr>
        <p:spPr>
          <a:xfrm>
            <a:off x="6272784" y="2057400"/>
            <a:ext cx="2240280" cy="685800"/>
          </a:xfrm>
          <a:prstGeom prst="rect">
            <a:avLst/>
          </a:prstGeom>
          <a:noFill/>
          <a:ln/>
        </p:spPr>
        <p:txBody>
          <a:bodyPr wrap="square" rtlCol="0" anchor="ctr"/>
          <a:lstStyle/>
          <a:p>
            <a:pPr indent="0" marL="0">
              <a:buNone/>
            </a:pPr>
            <a:r>
              <a:rPr lang="en-US" sz="3800" b="1" dirty="0">
                <a:solidFill>
                  <a:srgbClr val="1A1A1A"/>
                </a:solidFill>
                <a:latin typeface="Cambria" pitchFamily="34" charset="0"/>
                <a:ea typeface="Cambria" pitchFamily="34" charset="-122"/>
                <a:cs typeface="Cambria" pitchFamily="34" charset="-120"/>
              </a:rPr>
              <a:t>4.1m</a:t>
            </a:r>
            <a:endParaRPr lang="en-US" sz="3800" dirty="0"/>
          </a:p>
        </p:txBody>
      </p:sp>
      <p:sp>
        <p:nvSpPr>
          <p:cNvPr id="20" name="Shape 18"/>
          <p:cNvSpPr/>
          <p:nvPr/>
        </p:nvSpPr>
        <p:spPr>
          <a:xfrm>
            <a:off x="6291072" y="2862072"/>
            <a:ext cx="1188720" cy="292608"/>
          </a:xfrm>
          <a:prstGeom prst="roundRect">
            <a:avLst>
              <a:gd name="adj" fmla="val 18750"/>
            </a:avLst>
          </a:prstGeom>
          <a:solidFill>
            <a:srgbClr val="DCFCE7"/>
          </a:solidFill>
          <a:ln/>
        </p:spPr>
      </p:sp>
      <p:sp>
        <p:nvSpPr>
          <p:cNvPr id="21" name="Text 19"/>
          <p:cNvSpPr/>
          <p:nvPr/>
        </p:nvSpPr>
        <p:spPr>
          <a:xfrm>
            <a:off x="6291072" y="2862072"/>
            <a:ext cx="1188720" cy="292608"/>
          </a:xfrm>
          <a:prstGeom prst="rect">
            <a:avLst/>
          </a:prstGeom>
          <a:noFill/>
          <a:ln/>
        </p:spPr>
        <p:txBody>
          <a:bodyPr wrap="square" rtlCol="0" anchor="ctr"/>
          <a:lstStyle/>
          <a:p>
            <a:pPr algn="ctr" indent="0" marL="0">
              <a:buNone/>
            </a:pPr>
            <a:r>
              <a:rPr lang="en-US" sz="1050" b="1" dirty="0">
                <a:solidFill>
                  <a:srgbClr val="16A34A"/>
                </a:solidFill>
                <a:latin typeface="Calibri" pitchFamily="34" charset="0"/>
                <a:ea typeface="Calibri" pitchFamily="34" charset="-122"/>
                <a:cs typeface="Calibri" pitchFamily="34" charset="-120"/>
              </a:rPr>
              <a:t>↓ 8.0%</a:t>
            </a:r>
            <a:endParaRPr lang="en-US" sz="1050" dirty="0"/>
          </a:p>
        </p:txBody>
      </p:sp>
      <p:sp>
        <p:nvSpPr>
          <p:cNvPr id="22" name="Text 20"/>
          <p:cNvSpPr/>
          <p:nvPr/>
        </p:nvSpPr>
        <p:spPr>
          <a:xfrm>
            <a:off x="7552944" y="2862072"/>
            <a:ext cx="1051560" cy="292608"/>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vs last week</a:t>
            </a:r>
            <a:endParaRPr lang="en-US" sz="900" dirty="0"/>
          </a:p>
        </p:txBody>
      </p:sp>
      <p:sp>
        <p:nvSpPr>
          <p:cNvPr id="23" name="Shape 21"/>
          <p:cNvSpPr/>
          <p:nvPr/>
        </p:nvSpPr>
        <p:spPr>
          <a:xfrm>
            <a:off x="8860536" y="1600200"/>
            <a:ext cx="2606040" cy="173736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6000"/>
              </a:srgbClr>
            </a:outerShdw>
          </a:effectLst>
        </p:spPr>
      </p:sp>
      <p:sp>
        <p:nvSpPr>
          <p:cNvPr id="24" name="Text 22"/>
          <p:cNvSpPr/>
          <p:nvPr/>
        </p:nvSpPr>
        <p:spPr>
          <a:xfrm>
            <a:off x="9061704" y="1783080"/>
            <a:ext cx="2240280" cy="274320"/>
          </a:xfrm>
          <a:prstGeom prst="rect">
            <a:avLst/>
          </a:prstGeom>
          <a:noFill/>
          <a:ln/>
        </p:spPr>
        <p:txBody>
          <a:bodyPr wrap="square" rtlCol="0" anchor="ctr"/>
          <a:lstStyle/>
          <a:p>
            <a:pPr indent="0" marL="0">
              <a:buNone/>
            </a:pPr>
            <a:r>
              <a:rPr lang="en-US" sz="950" b="1" spc="100" kern="0" dirty="0">
                <a:solidFill>
                  <a:srgbClr val="6B6B6B"/>
                </a:solidFill>
                <a:latin typeface="Calibri" pitchFamily="34" charset="0"/>
                <a:ea typeface="Calibri" pitchFamily="34" charset="-122"/>
                <a:cs typeface="Calibri" pitchFamily="34" charset="-120"/>
              </a:rPr>
              <a:t>CSAT (30 DAYS)</a:t>
            </a:r>
            <a:endParaRPr lang="en-US" sz="950" dirty="0"/>
          </a:p>
        </p:txBody>
      </p:sp>
      <p:sp>
        <p:nvSpPr>
          <p:cNvPr id="25" name="Text 23"/>
          <p:cNvSpPr/>
          <p:nvPr/>
        </p:nvSpPr>
        <p:spPr>
          <a:xfrm>
            <a:off x="9043416" y="2057400"/>
            <a:ext cx="2240280" cy="685800"/>
          </a:xfrm>
          <a:prstGeom prst="rect">
            <a:avLst/>
          </a:prstGeom>
          <a:noFill/>
          <a:ln/>
        </p:spPr>
        <p:txBody>
          <a:bodyPr wrap="square" rtlCol="0" anchor="ctr"/>
          <a:lstStyle/>
          <a:p>
            <a:pPr indent="0" marL="0">
              <a:buNone/>
            </a:pPr>
            <a:r>
              <a:rPr lang="en-US" sz="3800" b="1" dirty="0">
                <a:solidFill>
                  <a:srgbClr val="1A1A1A"/>
                </a:solidFill>
                <a:latin typeface="Cambria" pitchFamily="34" charset="0"/>
                <a:ea typeface="Cambria" pitchFamily="34" charset="-122"/>
                <a:cs typeface="Cambria" pitchFamily="34" charset="-120"/>
              </a:rPr>
              <a:t>94%</a:t>
            </a:r>
            <a:endParaRPr lang="en-US" sz="3800" dirty="0"/>
          </a:p>
        </p:txBody>
      </p:sp>
      <p:sp>
        <p:nvSpPr>
          <p:cNvPr id="26" name="Shape 24"/>
          <p:cNvSpPr/>
          <p:nvPr/>
        </p:nvSpPr>
        <p:spPr>
          <a:xfrm>
            <a:off x="9061704" y="2862072"/>
            <a:ext cx="1188720" cy="292608"/>
          </a:xfrm>
          <a:prstGeom prst="roundRect">
            <a:avLst>
              <a:gd name="adj" fmla="val 18750"/>
            </a:avLst>
          </a:prstGeom>
          <a:solidFill>
            <a:srgbClr val="DCFCE7"/>
          </a:solidFill>
          <a:ln/>
        </p:spPr>
      </p:sp>
      <p:sp>
        <p:nvSpPr>
          <p:cNvPr id="27" name="Text 25"/>
          <p:cNvSpPr/>
          <p:nvPr/>
        </p:nvSpPr>
        <p:spPr>
          <a:xfrm>
            <a:off x="9061704" y="2862072"/>
            <a:ext cx="1188720" cy="292608"/>
          </a:xfrm>
          <a:prstGeom prst="rect">
            <a:avLst/>
          </a:prstGeom>
          <a:noFill/>
          <a:ln/>
        </p:spPr>
        <p:txBody>
          <a:bodyPr wrap="square" rtlCol="0" anchor="ctr"/>
          <a:lstStyle/>
          <a:p>
            <a:pPr algn="ctr" indent="0" marL="0">
              <a:buNone/>
            </a:pPr>
            <a:r>
              <a:rPr lang="en-US" sz="1050" b="1" dirty="0">
                <a:solidFill>
                  <a:srgbClr val="16A34A"/>
                </a:solidFill>
                <a:latin typeface="Calibri" pitchFamily="34" charset="0"/>
                <a:ea typeface="Calibri" pitchFamily="34" charset="-122"/>
                <a:cs typeface="Calibri" pitchFamily="34" charset="-120"/>
              </a:rPr>
              <a:t>↑ 1.1%</a:t>
            </a:r>
            <a:endParaRPr lang="en-US" sz="1050" dirty="0"/>
          </a:p>
        </p:txBody>
      </p:sp>
      <p:sp>
        <p:nvSpPr>
          <p:cNvPr id="28" name="Text 26"/>
          <p:cNvSpPr/>
          <p:nvPr/>
        </p:nvSpPr>
        <p:spPr>
          <a:xfrm>
            <a:off x="10323576" y="2862072"/>
            <a:ext cx="1051560" cy="292608"/>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vs prior 30d</a:t>
            </a:r>
            <a:endParaRPr lang="en-US" sz="900" dirty="0"/>
          </a:p>
        </p:txBody>
      </p:sp>
      <p:sp>
        <p:nvSpPr>
          <p:cNvPr id="29" name="Text 27"/>
          <p:cNvSpPr/>
          <p:nvPr/>
        </p:nvSpPr>
        <p:spPr>
          <a:xfrm>
            <a:off x="548640" y="3749040"/>
            <a:ext cx="10607040" cy="731520"/>
          </a:xfrm>
          <a:prstGeom prst="rect">
            <a:avLst/>
          </a:prstGeom>
          <a:noFill/>
          <a:ln/>
        </p:spPr>
        <p:txBody>
          <a:bodyPr wrap="square" rtlCol="0" anchor="ctr"/>
          <a:lstStyle/>
          <a:p>
            <a:pPr indent="0" marL="0">
              <a:buNone/>
            </a:pPr>
            <a:r>
              <a:rPr lang="en-US" sz="1300" i="1" dirty="0">
                <a:solidFill>
                  <a:srgbClr val="1A1A1A"/>
                </a:solidFill>
                <a:latin typeface="Calibri" pitchFamily="34" charset="0"/>
                <a:ea typeface="Calibri" pitchFamily="34" charset="-122"/>
                <a:cs typeface="Calibri" pitchFamily="34" charset="-120"/>
              </a:rPr>
              <a:t>Queue volume eased off yesterday's level while active conversations and load both ticked up week over week — response speed is keeping pace, and satisfaction held steady above target.</a:t>
            </a:r>
            <a:endParaRPr lang="en-US" sz="1300" dirty="0"/>
          </a:p>
        </p:txBody>
      </p:sp>
      <p:sp>
        <p:nvSpPr>
          <p:cNvPr id="30" name="Shape 28"/>
          <p:cNvSpPr/>
          <p:nvPr/>
        </p:nvSpPr>
        <p:spPr>
          <a:xfrm>
            <a:off x="548640" y="4663440"/>
            <a:ext cx="10607040" cy="1417320"/>
          </a:xfrm>
          <a:prstGeom prst="rect">
            <a:avLst/>
          </a:prstGeom>
          <a:solidFill>
            <a:srgbClr val="F0ECFF"/>
          </a:solidFill>
          <a:ln/>
        </p:spPr>
      </p:sp>
      <p:sp>
        <p:nvSpPr>
          <p:cNvPr id="31" name="Text 29"/>
          <p:cNvSpPr/>
          <p:nvPr/>
        </p:nvSpPr>
        <p:spPr>
          <a:xfrm>
            <a:off x="868680" y="4864608"/>
            <a:ext cx="4572000" cy="320040"/>
          </a:xfrm>
          <a:prstGeom prst="rect">
            <a:avLst/>
          </a:prstGeom>
          <a:noFill/>
          <a:ln/>
        </p:spPr>
        <p:txBody>
          <a:bodyPr wrap="square" rtlCol="0" anchor="ctr"/>
          <a:lstStyle/>
          <a:p>
            <a:pPr indent="0" marL="0">
              <a:buNone/>
            </a:pPr>
            <a:r>
              <a:rPr lang="en-US" sz="1300" b="1" dirty="0">
                <a:solidFill>
                  <a:srgbClr val="5B3FD9"/>
                </a:solidFill>
                <a:latin typeface="Cambria" pitchFamily="34" charset="0"/>
                <a:ea typeface="Cambria" pitchFamily="34" charset="-122"/>
                <a:cs typeface="Cambria" pitchFamily="34" charset="-120"/>
              </a:rPr>
              <a:t>Reading the numbers</a:t>
            </a:r>
            <a:endParaRPr lang="en-US" sz="1300" dirty="0"/>
          </a:p>
        </p:txBody>
      </p:sp>
      <p:sp>
        <p:nvSpPr>
          <p:cNvPr id="32" name="Text 30"/>
          <p:cNvSpPr/>
          <p:nvPr/>
        </p:nvSpPr>
        <p:spPr>
          <a:xfrm>
            <a:off x="868680" y="5193792"/>
            <a:ext cx="9966960" cy="777240"/>
          </a:xfrm>
          <a:prstGeom prst="rect">
            <a:avLst/>
          </a:prstGeom>
          <a:noFill/>
          <a:ln/>
        </p:spPr>
        <p:txBody>
          <a:bodyPr wrap="square" rtlCol="0" anchor="ctr"/>
          <a:lstStyle/>
          <a:p>
            <a:pPr indent="0" marL="0">
              <a:buNone/>
            </a:pPr>
            <a:r>
              <a:rPr lang="en-US" sz="1150" dirty="0">
                <a:solidFill>
                  <a:srgbClr val="1A1A1A"/>
                </a:solidFill>
                <a:latin typeface="Calibri" pitchFamily="34" charset="0"/>
                <a:ea typeface="Calibri" pitchFamily="34" charset="-122"/>
                <a:cs typeface="Calibri" pitchFamily="34" charset="-120"/>
              </a:rPr>
              <a:t>A 5.2% rise in active conversations against a falling queue means the team is processing faster than new volume arrives — first reply time improving 8% supports that. CSAT holding at 94% confirms speed gains aren't costing quality.</a:t>
            </a:r>
            <a:endParaRPr lang="en-US" sz="1150" dirty="0"/>
          </a:p>
        </p:txBody>
      </p:sp>
      <p:sp>
        <p:nvSpPr>
          <p:cNvPr id="33" name="Text 31"/>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548640" y="448056"/>
            <a:ext cx="91440" cy="91440"/>
          </a:xfrm>
          <a:prstGeom prst="ellipse">
            <a:avLst/>
          </a:prstGeom>
          <a:solidFill>
            <a:srgbClr val="7856FF"/>
          </a:solidFill>
          <a:ln/>
        </p:spPr>
      </p:sp>
      <p:sp>
        <p:nvSpPr>
          <p:cNvPr id="3" name="Text 1"/>
          <p:cNvSpPr/>
          <p:nvPr/>
        </p:nvSpPr>
        <p:spPr>
          <a:xfrm>
            <a:off x="749808" y="411480"/>
            <a:ext cx="5486400" cy="228600"/>
          </a:xfrm>
          <a:prstGeom prst="rect">
            <a:avLst/>
          </a:prstGeom>
          <a:noFill/>
          <a:ln/>
        </p:spPr>
        <p:txBody>
          <a:bodyPr wrap="square" rtlCol="0" anchor="ctr"/>
          <a:lstStyle/>
          <a:p>
            <a:pPr indent="0" marL="0">
              <a:buNone/>
            </a:pPr>
            <a:r>
              <a:rPr lang="en-US" sz="1100" b="1" spc="200" kern="0" dirty="0">
                <a:solidFill>
                  <a:srgbClr val="7856FF"/>
                </a:solidFill>
                <a:latin typeface="Calibri" pitchFamily="34" charset="0"/>
                <a:ea typeface="Calibri" pitchFamily="34" charset="-122"/>
                <a:cs typeface="Calibri" pitchFamily="34" charset="-120"/>
              </a:rPr>
              <a:t>02 · QUEUE HEALTH</a:t>
            </a:r>
            <a:endParaRPr lang="en-US" sz="1100" dirty="0"/>
          </a:p>
        </p:txBody>
      </p:sp>
      <p:sp>
        <p:nvSpPr>
          <p:cNvPr id="4" name="Text 2"/>
          <p:cNvSpPr/>
          <p:nvPr/>
        </p:nvSpPr>
        <p:spPr>
          <a:xfrm>
            <a:off x="548640" y="685800"/>
            <a:ext cx="9601200" cy="54864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Conversation volume — last 30 days</a:t>
            </a:r>
            <a:endParaRPr lang="en-US" sz="2600" dirty="0"/>
          </a:p>
        </p:txBody>
      </p:sp>
      <p:sp>
        <p:nvSpPr>
          <p:cNvPr id="5" name="Shape 3"/>
          <p:cNvSpPr/>
          <p:nvPr/>
        </p:nvSpPr>
        <p:spPr>
          <a:xfrm>
            <a:off x="548640" y="1417320"/>
            <a:ext cx="7223760" cy="466344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5000"/>
              </a:srgbClr>
            </a:outerShdw>
          </a:effectLst>
        </p:spPr>
      </p:sp>
      <p:pic>
        <p:nvPicPr>
          <p:cNvPr id="6" name="Image 0" descr="/home/claude/ppt/chart_volume.png">    </p:cNvPr>
          <p:cNvPicPr>
            <a:picLocks noChangeAspect="1"/>
          </p:cNvPicPr>
          <p:nvPr/>
        </p:nvPicPr>
        <p:blipFill>
          <a:blip r:embed="rId1"/>
          <a:srcRect l="0" r="0" t="0" b="0"/>
          <a:stretch/>
        </p:blipFill>
        <p:spPr>
          <a:xfrm>
            <a:off x="868680" y="1691640"/>
            <a:ext cx="6583680" cy="3977640"/>
          </a:xfrm>
          <a:prstGeom prst="rect">
            <a:avLst/>
          </a:prstGeom>
        </p:spPr>
      </p:pic>
      <p:sp>
        <p:nvSpPr>
          <p:cNvPr id="7" name="Shape 4"/>
          <p:cNvSpPr/>
          <p:nvPr/>
        </p:nvSpPr>
        <p:spPr>
          <a:xfrm>
            <a:off x="8001000" y="1417320"/>
            <a:ext cx="3611880" cy="466344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5000"/>
              </a:srgbClr>
            </a:outerShdw>
          </a:effectLst>
        </p:spPr>
      </p:sp>
      <p:sp>
        <p:nvSpPr>
          <p:cNvPr id="8" name="Text 5"/>
          <p:cNvSpPr/>
          <p:nvPr/>
        </p:nvSpPr>
        <p:spPr>
          <a:xfrm>
            <a:off x="8275320" y="1691640"/>
            <a:ext cx="3108960" cy="274320"/>
          </a:xfrm>
          <a:prstGeom prst="rect">
            <a:avLst/>
          </a:prstGeom>
          <a:noFill/>
          <a:ln/>
        </p:spPr>
        <p:txBody>
          <a:bodyPr wrap="square" rtlCol="0" anchor="ctr"/>
          <a:lstStyle/>
          <a:p>
            <a:pPr indent="0" marL="0">
              <a:buNone/>
            </a:pPr>
            <a:r>
              <a:rPr lang="en-US" sz="1000" b="1" spc="150" kern="0" dirty="0">
                <a:solidFill>
                  <a:srgbClr val="7856FF"/>
                </a:solidFill>
                <a:latin typeface="Calibri" pitchFamily="34" charset="0"/>
                <a:ea typeface="Calibri" pitchFamily="34" charset="-122"/>
                <a:cs typeface="Calibri" pitchFamily="34" charset="-120"/>
              </a:rPr>
              <a:t>WHAT IT SHOWS</a:t>
            </a:r>
            <a:endParaRPr lang="en-US" sz="1000" dirty="0"/>
          </a:p>
        </p:txBody>
      </p:sp>
      <p:sp>
        <p:nvSpPr>
          <p:cNvPr id="9" name="Text 6"/>
          <p:cNvSpPr/>
          <p:nvPr/>
        </p:nvSpPr>
        <p:spPr>
          <a:xfrm>
            <a:off x="8275320" y="2011680"/>
            <a:ext cx="3108960" cy="91440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Daily new conversation threads. A dip mid-month followed by a sharp climb into the final week, ending 2.4% above the period start.</a:t>
            </a:r>
            <a:endParaRPr lang="en-US" sz="1100" dirty="0"/>
          </a:p>
        </p:txBody>
      </p:sp>
      <p:sp>
        <p:nvSpPr>
          <p:cNvPr id="10" name="Shape 7"/>
          <p:cNvSpPr/>
          <p:nvPr/>
        </p:nvSpPr>
        <p:spPr>
          <a:xfrm>
            <a:off x="8275320" y="3063240"/>
            <a:ext cx="3108960" cy="0"/>
          </a:xfrm>
          <a:prstGeom prst="line">
            <a:avLst/>
          </a:prstGeom>
          <a:noFill/>
          <a:ln w="12700">
            <a:solidFill>
              <a:srgbClr val="E5E5E5"/>
            </a:solidFill>
            <a:prstDash val="solid"/>
          </a:ln>
        </p:spPr>
      </p:sp>
      <p:sp>
        <p:nvSpPr>
          <p:cNvPr id="11" name="Text 8"/>
          <p:cNvSpPr/>
          <p:nvPr/>
        </p:nvSpPr>
        <p:spPr>
          <a:xfrm>
            <a:off x="8275320" y="3246120"/>
            <a:ext cx="3108960" cy="274320"/>
          </a:xfrm>
          <a:prstGeom prst="rect">
            <a:avLst/>
          </a:prstGeom>
          <a:noFill/>
          <a:ln/>
        </p:spPr>
        <p:txBody>
          <a:bodyPr wrap="square" rtlCol="0" anchor="ctr"/>
          <a:lstStyle/>
          <a:p>
            <a:pPr indent="0" marL="0">
              <a:buNone/>
            </a:pPr>
            <a:r>
              <a:rPr lang="en-US" sz="1000" b="1" spc="150" kern="0" dirty="0">
                <a:solidFill>
                  <a:srgbClr val="7856FF"/>
                </a:solidFill>
                <a:latin typeface="Calibri" pitchFamily="34" charset="0"/>
                <a:ea typeface="Calibri" pitchFamily="34" charset="-122"/>
                <a:cs typeface="Calibri" pitchFamily="34" charset="-120"/>
              </a:rPr>
              <a:t>WHY IT MATTERS</a:t>
            </a:r>
            <a:endParaRPr lang="en-US" sz="1000" dirty="0"/>
          </a:p>
        </p:txBody>
      </p:sp>
      <p:sp>
        <p:nvSpPr>
          <p:cNvPr id="12" name="Text 9"/>
          <p:cNvSpPr/>
          <p:nvPr/>
        </p:nvSpPr>
        <p:spPr>
          <a:xfrm>
            <a:off x="8275320" y="3566160"/>
            <a:ext cx="3108960" cy="137160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The late-month spike is the signal worth tracking. If it continues into next month, staffing or routing rules may need to flex ahead of it rather than react after queue backs up.</a:t>
            </a:r>
            <a:endParaRPr lang="en-US" sz="1100" dirty="0"/>
          </a:p>
        </p:txBody>
      </p:sp>
      <p:sp>
        <p:nvSpPr>
          <p:cNvPr id="13" name="Text 10"/>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548640" y="448056"/>
            <a:ext cx="91440" cy="91440"/>
          </a:xfrm>
          <a:prstGeom prst="ellipse">
            <a:avLst/>
          </a:prstGeom>
          <a:solidFill>
            <a:srgbClr val="7856FF"/>
          </a:solidFill>
          <a:ln/>
        </p:spPr>
      </p:sp>
      <p:sp>
        <p:nvSpPr>
          <p:cNvPr id="3" name="Text 1"/>
          <p:cNvSpPr/>
          <p:nvPr/>
        </p:nvSpPr>
        <p:spPr>
          <a:xfrm>
            <a:off x="749808" y="411480"/>
            <a:ext cx="5486400" cy="228600"/>
          </a:xfrm>
          <a:prstGeom prst="rect">
            <a:avLst/>
          </a:prstGeom>
          <a:noFill/>
          <a:ln/>
        </p:spPr>
        <p:txBody>
          <a:bodyPr wrap="square" rtlCol="0" anchor="ctr"/>
          <a:lstStyle/>
          <a:p>
            <a:pPr indent="0" marL="0">
              <a:buNone/>
            </a:pPr>
            <a:r>
              <a:rPr lang="en-US" sz="1100" b="1" spc="200" kern="0" dirty="0">
                <a:solidFill>
                  <a:srgbClr val="7856FF"/>
                </a:solidFill>
                <a:latin typeface="Calibri" pitchFamily="34" charset="0"/>
                <a:ea typeface="Calibri" pitchFamily="34" charset="-122"/>
                <a:cs typeface="Calibri" pitchFamily="34" charset="-120"/>
              </a:rPr>
              <a:t>03 · CUSTOMER SATISFACTION</a:t>
            </a:r>
            <a:endParaRPr lang="en-US" sz="1100" dirty="0"/>
          </a:p>
        </p:txBody>
      </p:sp>
      <p:sp>
        <p:nvSpPr>
          <p:cNvPr id="4" name="Text 2"/>
          <p:cNvSpPr/>
          <p:nvPr/>
        </p:nvSpPr>
        <p:spPr>
          <a:xfrm>
            <a:off x="548640" y="685800"/>
            <a:ext cx="10058400" cy="54864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Satisfaction and response speed move together</a:t>
            </a:r>
            <a:endParaRPr lang="en-US" sz="2600" dirty="0"/>
          </a:p>
        </p:txBody>
      </p:sp>
      <p:sp>
        <p:nvSpPr>
          <p:cNvPr id="5" name="Shape 3"/>
          <p:cNvSpPr/>
          <p:nvPr/>
        </p:nvSpPr>
        <p:spPr>
          <a:xfrm>
            <a:off x="548640" y="1417320"/>
            <a:ext cx="5440680" cy="443484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5000"/>
              </a:srgbClr>
            </a:outerShdw>
          </a:effectLst>
        </p:spPr>
      </p:sp>
      <p:sp>
        <p:nvSpPr>
          <p:cNvPr id="6" name="Text 4"/>
          <p:cNvSpPr/>
          <p:nvPr/>
        </p:nvSpPr>
        <p:spPr>
          <a:xfrm>
            <a:off x="822960" y="1600200"/>
            <a:ext cx="4937760" cy="274320"/>
          </a:xfrm>
          <a:prstGeom prst="rect">
            <a:avLst/>
          </a:prstGeom>
          <a:noFill/>
          <a:ln/>
        </p:spPr>
        <p:txBody>
          <a:bodyPr wrap="square"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CSAT Responses by Channel</a:t>
            </a:r>
            <a:endParaRPr lang="en-US" sz="1300" dirty="0"/>
          </a:p>
        </p:txBody>
      </p:sp>
      <p:sp>
        <p:nvSpPr>
          <p:cNvPr id="7" name="Text 5"/>
          <p:cNvSpPr/>
          <p:nvPr/>
        </p:nvSpPr>
        <p:spPr>
          <a:xfrm>
            <a:off x="822960" y="1856232"/>
            <a:ext cx="4937760" cy="228600"/>
          </a:xfrm>
          <a:prstGeom prst="rect">
            <a:avLst/>
          </a:prstGeom>
          <a:noFill/>
          <a:ln/>
        </p:spPr>
        <p:txBody>
          <a:bodyPr wrap="square" rtlCol="0" anchor="ctr"/>
          <a:lstStyle/>
          <a:p>
            <a:pPr indent="0" marL="0">
              <a:buNone/>
            </a:pPr>
            <a:r>
              <a:rPr lang="en-US" sz="950" dirty="0">
                <a:solidFill>
                  <a:srgbClr val="6B6B6B"/>
                </a:solidFill>
                <a:latin typeface="Calibri" pitchFamily="34" charset="0"/>
                <a:ea typeface="Calibri" pitchFamily="34" charset="-122"/>
                <a:cs typeface="Calibri" pitchFamily="34" charset="-120"/>
              </a:rPr>
              <a:t>Last 10 days</a:t>
            </a:r>
            <a:endParaRPr lang="en-US" sz="950" dirty="0"/>
          </a:p>
        </p:txBody>
      </p:sp>
      <p:pic>
        <p:nvPicPr>
          <p:cNvPr id="8" name="Image 0" descr="/home/claude/ppt/chart_csat.png">    </p:cNvPr>
          <p:cNvPicPr>
            <a:picLocks noChangeAspect="1"/>
          </p:cNvPicPr>
          <p:nvPr/>
        </p:nvPicPr>
        <p:blipFill>
          <a:blip r:embed="rId1"/>
          <a:srcRect l="0" r="0" t="0" b="0"/>
          <a:stretch/>
        </p:blipFill>
        <p:spPr>
          <a:xfrm>
            <a:off x="868680" y="2148840"/>
            <a:ext cx="4937760" cy="3657600"/>
          </a:xfrm>
          <a:prstGeom prst="rect">
            <a:avLst/>
          </a:prstGeom>
        </p:spPr>
      </p:pic>
      <p:sp>
        <p:nvSpPr>
          <p:cNvPr id="9" name="Shape 6"/>
          <p:cNvSpPr/>
          <p:nvPr/>
        </p:nvSpPr>
        <p:spPr>
          <a:xfrm>
            <a:off x="6199632" y="1417320"/>
            <a:ext cx="5440680" cy="443484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5000"/>
              </a:srgbClr>
            </a:outerShdw>
          </a:effectLst>
        </p:spPr>
      </p:sp>
      <p:sp>
        <p:nvSpPr>
          <p:cNvPr id="10" name="Text 7"/>
          <p:cNvSpPr/>
          <p:nvPr/>
        </p:nvSpPr>
        <p:spPr>
          <a:xfrm>
            <a:off x="6473952" y="1600200"/>
            <a:ext cx="4937760" cy="274320"/>
          </a:xfrm>
          <a:prstGeom prst="rect">
            <a:avLst/>
          </a:prstGeom>
          <a:noFill/>
          <a:ln/>
        </p:spPr>
        <p:txBody>
          <a:bodyPr wrap="square"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Median First Reply</a:t>
            </a:r>
            <a:endParaRPr lang="en-US" sz="1300" dirty="0"/>
          </a:p>
        </p:txBody>
      </p:sp>
      <p:sp>
        <p:nvSpPr>
          <p:cNvPr id="11" name="Text 8"/>
          <p:cNvSpPr/>
          <p:nvPr/>
        </p:nvSpPr>
        <p:spPr>
          <a:xfrm>
            <a:off x="6473952" y="1856232"/>
            <a:ext cx="4937760" cy="228600"/>
          </a:xfrm>
          <a:prstGeom prst="rect">
            <a:avLst/>
          </a:prstGeom>
          <a:noFill/>
          <a:ln/>
        </p:spPr>
        <p:txBody>
          <a:bodyPr wrap="square" rtlCol="0" anchor="ctr"/>
          <a:lstStyle/>
          <a:p>
            <a:pPr indent="0" marL="0">
              <a:buNone/>
            </a:pPr>
            <a:r>
              <a:rPr lang="en-US" sz="950" dirty="0">
                <a:solidFill>
                  <a:srgbClr val="6B6B6B"/>
                </a:solidFill>
                <a:latin typeface="Calibri" pitchFamily="34" charset="0"/>
                <a:ea typeface="Calibri" pitchFamily="34" charset="-122"/>
                <a:cs typeface="Calibri" pitchFamily="34" charset="-120"/>
              </a:rPr>
              <a:t>Minutes to first agent message, last 7 days</a:t>
            </a:r>
            <a:endParaRPr lang="en-US" sz="950" dirty="0"/>
          </a:p>
        </p:txBody>
      </p:sp>
      <p:pic>
        <p:nvPicPr>
          <p:cNvPr id="12" name="Image 1" descr="/home/claude/ppt/chart_reply.png">    </p:cNvPr>
          <p:cNvPicPr>
            <a:picLocks noChangeAspect="1"/>
          </p:cNvPicPr>
          <p:nvPr/>
        </p:nvPicPr>
        <p:blipFill>
          <a:blip r:embed="rId2"/>
          <a:srcRect l="0" r="0" t="0" b="0"/>
          <a:stretch/>
        </p:blipFill>
        <p:spPr>
          <a:xfrm>
            <a:off x="6519672" y="2148840"/>
            <a:ext cx="4937760" cy="3657600"/>
          </a:xfrm>
          <a:prstGeom prst="rect">
            <a:avLst/>
          </a:prstGeom>
        </p:spPr>
      </p:pic>
      <p:sp>
        <p:nvSpPr>
          <p:cNvPr id="13" name="Text 9"/>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548640" y="448056"/>
            <a:ext cx="91440" cy="91440"/>
          </a:xfrm>
          <a:prstGeom prst="ellipse">
            <a:avLst/>
          </a:prstGeom>
          <a:solidFill>
            <a:srgbClr val="7856FF"/>
          </a:solidFill>
          <a:ln/>
        </p:spPr>
      </p:sp>
      <p:sp>
        <p:nvSpPr>
          <p:cNvPr id="3" name="Text 1"/>
          <p:cNvSpPr/>
          <p:nvPr/>
        </p:nvSpPr>
        <p:spPr>
          <a:xfrm>
            <a:off x="749808" y="411480"/>
            <a:ext cx="5486400" cy="228600"/>
          </a:xfrm>
          <a:prstGeom prst="rect">
            <a:avLst/>
          </a:prstGeom>
          <a:noFill/>
          <a:ln/>
        </p:spPr>
        <p:txBody>
          <a:bodyPr wrap="square" rtlCol="0" anchor="ctr"/>
          <a:lstStyle/>
          <a:p>
            <a:pPr indent="0" marL="0">
              <a:buNone/>
            </a:pPr>
            <a:r>
              <a:rPr lang="en-US" sz="1100" b="1" spc="200" kern="0" dirty="0">
                <a:solidFill>
                  <a:srgbClr val="7856FF"/>
                </a:solidFill>
                <a:latin typeface="Calibri" pitchFamily="34" charset="0"/>
                <a:ea typeface="Calibri" pitchFamily="34" charset="-122"/>
                <a:cs typeface="Calibri" pitchFamily="34" charset="-120"/>
              </a:rPr>
              <a:t>04 · CHANNEL BEHAVIOR</a:t>
            </a:r>
            <a:endParaRPr lang="en-US" sz="1100" dirty="0"/>
          </a:p>
        </p:txBody>
      </p:sp>
      <p:sp>
        <p:nvSpPr>
          <p:cNvPr id="4" name="Text 2"/>
          <p:cNvSpPr/>
          <p:nvPr/>
        </p:nvSpPr>
        <p:spPr>
          <a:xfrm>
            <a:off x="548640" y="685800"/>
            <a:ext cx="9601200" cy="54864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Direct conversations lead the mix</a:t>
            </a:r>
            <a:endParaRPr lang="en-US" sz="2600" dirty="0"/>
          </a:p>
        </p:txBody>
      </p:sp>
      <p:sp>
        <p:nvSpPr>
          <p:cNvPr id="5" name="Shape 3"/>
          <p:cNvSpPr/>
          <p:nvPr/>
        </p:nvSpPr>
        <p:spPr>
          <a:xfrm>
            <a:off x="548640" y="1417320"/>
            <a:ext cx="4937760" cy="466344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5000"/>
              </a:srgbClr>
            </a:outerShdw>
          </a:effectLst>
        </p:spPr>
      </p:sp>
      <p:sp>
        <p:nvSpPr>
          <p:cNvPr id="6" name="Text 4"/>
          <p:cNvSpPr/>
          <p:nvPr/>
        </p:nvSpPr>
        <p:spPr>
          <a:xfrm>
            <a:off x="822960" y="1627632"/>
            <a:ext cx="4389120" cy="274320"/>
          </a:xfrm>
          <a:prstGeom prst="rect">
            <a:avLst/>
          </a:prstGeom>
          <a:noFill/>
          <a:ln/>
        </p:spPr>
        <p:txBody>
          <a:bodyPr wrap="square"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Traffic by Channel</a:t>
            </a:r>
            <a:endParaRPr lang="en-US" sz="1300" dirty="0"/>
          </a:p>
        </p:txBody>
      </p:sp>
      <p:sp>
        <p:nvSpPr>
          <p:cNvPr id="7" name="Text 5"/>
          <p:cNvSpPr/>
          <p:nvPr/>
        </p:nvSpPr>
        <p:spPr>
          <a:xfrm>
            <a:off x="822960" y="1883664"/>
            <a:ext cx="4389120" cy="228600"/>
          </a:xfrm>
          <a:prstGeom prst="rect">
            <a:avLst/>
          </a:prstGeom>
          <a:noFill/>
          <a:ln/>
        </p:spPr>
        <p:txBody>
          <a:bodyPr wrap="square" rtlCol="0" anchor="ctr"/>
          <a:lstStyle/>
          <a:p>
            <a:pPr indent="0" marL="0">
              <a:buNone/>
            </a:pPr>
            <a:r>
              <a:rPr lang="en-US" sz="950" dirty="0">
                <a:solidFill>
                  <a:srgbClr val="6B6B6B"/>
                </a:solidFill>
                <a:latin typeface="Calibri" pitchFamily="34" charset="0"/>
                <a:ea typeface="Calibri" pitchFamily="34" charset="-122"/>
                <a:cs typeface="Calibri" pitchFamily="34" charset="-120"/>
              </a:rPr>
              <a:t>Share of new conversations, last 7 days</a:t>
            </a:r>
            <a:endParaRPr lang="en-US" sz="950" dirty="0"/>
          </a:p>
        </p:txBody>
      </p:sp>
      <p:pic>
        <p:nvPicPr>
          <p:cNvPr id="8" name="Image 0" descr="/home/claude/ppt/chart_donut.png">    </p:cNvPr>
          <p:cNvPicPr>
            <a:picLocks noChangeAspect="1"/>
          </p:cNvPicPr>
          <p:nvPr/>
        </p:nvPicPr>
        <p:blipFill>
          <a:blip r:embed="rId1"/>
          <a:srcRect l="0" r="0" t="0" b="0"/>
          <a:stretch/>
        </p:blipFill>
        <p:spPr>
          <a:xfrm>
            <a:off x="1417320" y="2240280"/>
            <a:ext cx="3108960" cy="3108960"/>
          </a:xfrm>
          <a:prstGeom prst="rect">
            <a:avLst/>
          </a:prstGeom>
        </p:spPr>
      </p:pic>
      <p:sp>
        <p:nvSpPr>
          <p:cNvPr id="9" name="Text 6"/>
          <p:cNvSpPr/>
          <p:nvPr/>
        </p:nvSpPr>
        <p:spPr>
          <a:xfrm>
            <a:off x="822960" y="5440680"/>
            <a:ext cx="1188720" cy="274320"/>
          </a:xfrm>
          <a:prstGeom prst="rect">
            <a:avLst/>
          </a:prstGeom>
          <a:noFill/>
          <a:ln/>
        </p:spPr>
        <p:txBody>
          <a:bodyPr wrap="square" rtlCol="0" anchor="ctr"/>
          <a:lstStyle/>
          <a:p>
            <a:pPr indent="0" marL="0">
              <a:buNone/>
            </a:pPr>
            <a:r>
              <a:rPr lang="en-US" sz="1000" b="1" dirty="0">
                <a:solidFill>
                  <a:srgbClr val="7856FF"/>
                </a:solidFill>
                <a:latin typeface="Calibri" pitchFamily="34" charset="0"/>
                <a:ea typeface="Calibri" pitchFamily="34" charset="-122"/>
                <a:cs typeface="Calibri" pitchFamily="34" charset="-120"/>
              </a:rPr>
              <a:t>● Direct</a:t>
            </a:r>
            <a:endParaRPr lang="en-US" sz="1000" dirty="0"/>
          </a:p>
        </p:txBody>
      </p:sp>
      <p:sp>
        <p:nvSpPr>
          <p:cNvPr id="10" name="Text 7"/>
          <p:cNvSpPr/>
          <p:nvPr/>
        </p:nvSpPr>
        <p:spPr>
          <a:xfrm>
            <a:off x="2057400" y="5440680"/>
            <a:ext cx="1188720" cy="274320"/>
          </a:xfrm>
          <a:prstGeom prst="rect">
            <a:avLst/>
          </a:prstGeom>
          <a:noFill/>
          <a:ln/>
        </p:spPr>
        <p:txBody>
          <a:bodyPr wrap="square" rtlCol="0" anchor="ctr"/>
          <a:lstStyle/>
          <a:p>
            <a:pPr indent="0" marL="0">
              <a:buNone/>
            </a:pPr>
            <a:r>
              <a:rPr lang="en-US" sz="1000" b="1" dirty="0">
                <a:solidFill>
                  <a:srgbClr val="9580E8"/>
                </a:solidFill>
                <a:latin typeface="Calibri" pitchFamily="34" charset="0"/>
                <a:ea typeface="Calibri" pitchFamily="34" charset="-122"/>
                <a:cs typeface="Calibri" pitchFamily="34" charset="-120"/>
              </a:rPr>
              <a:t>● Email</a:t>
            </a:r>
            <a:endParaRPr lang="en-US" sz="1000" dirty="0"/>
          </a:p>
        </p:txBody>
      </p:sp>
      <p:sp>
        <p:nvSpPr>
          <p:cNvPr id="11" name="Text 8"/>
          <p:cNvSpPr/>
          <p:nvPr/>
        </p:nvSpPr>
        <p:spPr>
          <a:xfrm>
            <a:off x="3200400" y="5440680"/>
            <a:ext cx="1188720" cy="274320"/>
          </a:xfrm>
          <a:prstGeom prst="rect">
            <a:avLst/>
          </a:prstGeom>
          <a:noFill/>
          <a:ln/>
        </p:spPr>
        <p:txBody>
          <a:bodyPr wrap="square" rtlCol="0" anchor="ctr"/>
          <a:lstStyle/>
          <a:p>
            <a:pPr indent="0" marL="0">
              <a:buNone/>
            </a:pPr>
            <a:r>
              <a:rPr lang="en-US" sz="1000" b="1" dirty="0">
                <a:solidFill>
                  <a:srgbClr val="B0A3E0"/>
                </a:solidFill>
                <a:latin typeface="Calibri" pitchFamily="34" charset="0"/>
                <a:ea typeface="Calibri" pitchFamily="34" charset="-122"/>
                <a:cs typeface="Calibri" pitchFamily="34" charset="-120"/>
              </a:rPr>
              <a:t>● Social</a:t>
            </a:r>
            <a:endParaRPr lang="en-US" sz="1000" dirty="0"/>
          </a:p>
        </p:txBody>
      </p:sp>
      <p:sp>
        <p:nvSpPr>
          <p:cNvPr id="12" name="Shape 9"/>
          <p:cNvSpPr/>
          <p:nvPr/>
        </p:nvSpPr>
        <p:spPr>
          <a:xfrm>
            <a:off x="5852160" y="1417320"/>
            <a:ext cx="5788152" cy="466344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5000"/>
              </a:srgbClr>
            </a:outerShdw>
          </a:effectLst>
        </p:spPr>
      </p:sp>
      <p:sp>
        <p:nvSpPr>
          <p:cNvPr id="13" name="Text 10"/>
          <p:cNvSpPr/>
          <p:nvPr/>
        </p:nvSpPr>
        <p:spPr>
          <a:xfrm>
            <a:off x="6172200" y="1691640"/>
            <a:ext cx="5120640" cy="320040"/>
          </a:xfrm>
          <a:prstGeom prst="rect">
            <a:avLst/>
          </a:prstGeom>
          <a:noFill/>
          <a:ln/>
        </p:spPr>
        <p:txBody>
          <a:bodyPr wrap="square"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What the split tells us</a:t>
            </a:r>
            <a:endParaRPr lang="en-US" sz="1500" dirty="0"/>
          </a:p>
        </p:txBody>
      </p:sp>
      <p:sp>
        <p:nvSpPr>
          <p:cNvPr id="14" name="Shape 11"/>
          <p:cNvSpPr/>
          <p:nvPr/>
        </p:nvSpPr>
        <p:spPr>
          <a:xfrm>
            <a:off x="6172200" y="2286000"/>
            <a:ext cx="82296" cy="82296"/>
          </a:xfrm>
          <a:prstGeom prst="ellipse">
            <a:avLst/>
          </a:prstGeom>
          <a:solidFill>
            <a:srgbClr val="7856FF"/>
          </a:solidFill>
          <a:ln/>
        </p:spPr>
      </p:sp>
      <p:sp>
        <p:nvSpPr>
          <p:cNvPr id="15" name="Text 12"/>
          <p:cNvSpPr/>
          <p:nvPr/>
        </p:nvSpPr>
        <p:spPr>
          <a:xfrm>
            <a:off x="6419088" y="2167128"/>
            <a:ext cx="4937760" cy="292608"/>
          </a:xfrm>
          <a:prstGeom prst="rect">
            <a:avLst/>
          </a:prstGeom>
          <a:noFill/>
          <a:ln/>
        </p:spPr>
        <p:txBody>
          <a:bodyPr wrap="square"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Direct leads at 44%</a:t>
            </a:r>
            <a:endParaRPr lang="en-US" sz="1250" dirty="0"/>
          </a:p>
        </p:txBody>
      </p:sp>
      <p:sp>
        <p:nvSpPr>
          <p:cNvPr id="16" name="Text 13"/>
          <p:cNvSpPr/>
          <p:nvPr/>
        </p:nvSpPr>
        <p:spPr>
          <a:xfrm>
            <a:off x="6419088" y="2459736"/>
            <a:ext cx="4937760" cy="594360"/>
          </a:xfrm>
          <a:prstGeom prst="rect">
            <a:avLst/>
          </a:prstGeom>
          <a:noFill/>
          <a:ln/>
        </p:spPr>
        <p:txBody>
          <a:bodyPr wrap="square" rtlCol="0" anchor="ctr"/>
          <a:lstStyle/>
          <a:p>
            <a:pPr indent="0" marL="0">
              <a:buNone/>
            </a:pPr>
            <a:r>
              <a:rPr lang="en-US" sz="1100" dirty="0">
                <a:solidFill>
                  <a:srgbClr val="6B6B6B"/>
                </a:solidFill>
                <a:latin typeface="Calibri" pitchFamily="34" charset="0"/>
                <a:ea typeface="Calibri" pitchFamily="34" charset="-122"/>
                <a:cs typeface="Calibri" pitchFamily="34" charset="-120"/>
              </a:rPr>
              <a:t>Most conversations start in-product — customers are already engaged when they reach out, which usually means higher resolution rates.</a:t>
            </a:r>
            <a:endParaRPr lang="en-US" sz="1100" dirty="0"/>
          </a:p>
        </p:txBody>
      </p:sp>
      <p:sp>
        <p:nvSpPr>
          <p:cNvPr id="17" name="Shape 14"/>
          <p:cNvSpPr/>
          <p:nvPr/>
        </p:nvSpPr>
        <p:spPr>
          <a:xfrm>
            <a:off x="6172200" y="3246120"/>
            <a:ext cx="82296" cy="82296"/>
          </a:xfrm>
          <a:prstGeom prst="ellipse">
            <a:avLst/>
          </a:prstGeom>
          <a:solidFill>
            <a:srgbClr val="7856FF"/>
          </a:solidFill>
          <a:ln/>
        </p:spPr>
      </p:sp>
      <p:sp>
        <p:nvSpPr>
          <p:cNvPr id="18" name="Text 15"/>
          <p:cNvSpPr/>
          <p:nvPr/>
        </p:nvSpPr>
        <p:spPr>
          <a:xfrm>
            <a:off x="6419088" y="3127248"/>
            <a:ext cx="4937760" cy="292608"/>
          </a:xfrm>
          <a:prstGeom prst="rect">
            <a:avLst/>
          </a:prstGeom>
          <a:noFill/>
          <a:ln/>
        </p:spPr>
        <p:txBody>
          <a:bodyPr wrap="square"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Email holds steady at 36%</a:t>
            </a:r>
            <a:endParaRPr lang="en-US" sz="1250" dirty="0"/>
          </a:p>
        </p:txBody>
      </p:sp>
      <p:sp>
        <p:nvSpPr>
          <p:cNvPr id="19" name="Text 16"/>
          <p:cNvSpPr/>
          <p:nvPr/>
        </p:nvSpPr>
        <p:spPr>
          <a:xfrm>
            <a:off x="6419088" y="3419856"/>
            <a:ext cx="4937760" cy="594360"/>
          </a:xfrm>
          <a:prstGeom prst="rect">
            <a:avLst/>
          </a:prstGeom>
          <a:noFill/>
          <a:ln/>
        </p:spPr>
        <p:txBody>
          <a:bodyPr wrap="square" rtlCol="0" anchor="ctr"/>
          <a:lstStyle/>
          <a:p>
            <a:pPr indent="0" marL="0">
              <a:buNone/>
            </a:pPr>
            <a:r>
              <a:rPr lang="en-US" sz="1100" dirty="0">
                <a:solidFill>
                  <a:srgbClr val="6B6B6B"/>
                </a:solidFill>
                <a:latin typeface="Calibri" pitchFamily="34" charset="0"/>
                <a:ea typeface="Calibri" pitchFamily="34" charset="-122"/>
                <a:cs typeface="Calibri" pitchFamily="34" charset="-120"/>
              </a:rPr>
              <a:t>A durable channel for longer or more complex issues that don't fit a chat window.</a:t>
            </a:r>
            <a:endParaRPr lang="en-US" sz="1100" dirty="0"/>
          </a:p>
        </p:txBody>
      </p:sp>
      <p:sp>
        <p:nvSpPr>
          <p:cNvPr id="20" name="Shape 17"/>
          <p:cNvSpPr/>
          <p:nvPr/>
        </p:nvSpPr>
        <p:spPr>
          <a:xfrm>
            <a:off x="6172200" y="4206240"/>
            <a:ext cx="82296" cy="82296"/>
          </a:xfrm>
          <a:prstGeom prst="ellipse">
            <a:avLst/>
          </a:prstGeom>
          <a:solidFill>
            <a:srgbClr val="7856FF"/>
          </a:solidFill>
          <a:ln/>
        </p:spPr>
      </p:sp>
      <p:sp>
        <p:nvSpPr>
          <p:cNvPr id="21" name="Text 18"/>
          <p:cNvSpPr/>
          <p:nvPr/>
        </p:nvSpPr>
        <p:spPr>
          <a:xfrm>
            <a:off x="6419088" y="4087368"/>
            <a:ext cx="4937760" cy="292608"/>
          </a:xfrm>
          <a:prstGeom prst="rect">
            <a:avLst/>
          </a:prstGeom>
          <a:noFill/>
          <a:ln/>
        </p:spPr>
        <p:txBody>
          <a:bodyPr wrap="square"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Social is the smallest slice at 20%</a:t>
            </a:r>
            <a:endParaRPr lang="en-US" sz="1250" dirty="0"/>
          </a:p>
        </p:txBody>
      </p:sp>
      <p:sp>
        <p:nvSpPr>
          <p:cNvPr id="22" name="Text 19"/>
          <p:cNvSpPr/>
          <p:nvPr/>
        </p:nvSpPr>
        <p:spPr>
          <a:xfrm>
            <a:off x="6419088" y="4379976"/>
            <a:ext cx="4937760" cy="594360"/>
          </a:xfrm>
          <a:prstGeom prst="rect">
            <a:avLst/>
          </a:prstGeom>
          <a:noFill/>
          <a:ln/>
        </p:spPr>
        <p:txBody>
          <a:bodyPr wrap="square" rtlCol="0" anchor="ctr"/>
          <a:lstStyle/>
          <a:p>
            <a:pPr indent="0" marL="0">
              <a:buNone/>
            </a:pPr>
            <a:r>
              <a:rPr lang="en-US" sz="1100" dirty="0">
                <a:solidFill>
                  <a:srgbClr val="6B6B6B"/>
                </a:solidFill>
                <a:latin typeface="Calibri" pitchFamily="34" charset="0"/>
                <a:ea typeface="Calibri" pitchFamily="34" charset="-122"/>
                <a:cs typeface="Calibri" pitchFamily="34" charset="-120"/>
              </a:rPr>
              <a:t>Worth monitoring rather than expanding — social inquiries tend to be public-facing and time-sensitive.</a:t>
            </a:r>
            <a:endParaRPr lang="en-US" sz="1100" dirty="0"/>
          </a:p>
        </p:txBody>
      </p:sp>
      <p:sp>
        <p:nvSpPr>
          <p:cNvPr id="23" name="Text 20"/>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548640" y="448056"/>
            <a:ext cx="91440" cy="91440"/>
          </a:xfrm>
          <a:prstGeom prst="ellipse">
            <a:avLst/>
          </a:prstGeom>
          <a:solidFill>
            <a:srgbClr val="7856FF"/>
          </a:solidFill>
          <a:ln/>
        </p:spPr>
      </p:sp>
      <p:sp>
        <p:nvSpPr>
          <p:cNvPr id="3" name="Text 1"/>
          <p:cNvSpPr/>
          <p:nvPr/>
        </p:nvSpPr>
        <p:spPr>
          <a:xfrm>
            <a:off x="749808" y="411480"/>
            <a:ext cx="5486400" cy="228600"/>
          </a:xfrm>
          <a:prstGeom prst="rect">
            <a:avLst/>
          </a:prstGeom>
          <a:noFill/>
          <a:ln/>
        </p:spPr>
        <p:txBody>
          <a:bodyPr wrap="square" rtlCol="0" anchor="ctr"/>
          <a:lstStyle/>
          <a:p>
            <a:pPr indent="0" marL="0">
              <a:buNone/>
            </a:pPr>
            <a:r>
              <a:rPr lang="en-US" sz="1100" b="1" spc="200" kern="0" dirty="0">
                <a:solidFill>
                  <a:srgbClr val="7856FF"/>
                </a:solidFill>
                <a:latin typeface="Calibri" pitchFamily="34" charset="0"/>
                <a:ea typeface="Calibri" pitchFamily="34" charset="-122"/>
                <a:cs typeface="Calibri" pitchFamily="34" charset="-120"/>
              </a:rPr>
              <a:t>05 · RISKS &amp; NEXT STEPS</a:t>
            </a:r>
            <a:endParaRPr lang="en-US" sz="1100" dirty="0"/>
          </a:p>
        </p:txBody>
      </p:sp>
      <p:sp>
        <p:nvSpPr>
          <p:cNvPr id="4" name="Text 2"/>
          <p:cNvSpPr/>
          <p:nvPr/>
        </p:nvSpPr>
        <p:spPr>
          <a:xfrm>
            <a:off x="548640" y="685800"/>
            <a:ext cx="9601200" cy="54864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Four signals worth watching</a:t>
            </a:r>
            <a:endParaRPr lang="en-US" sz="2600" dirty="0"/>
          </a:p>
        </p:txBody>
      </p:sp>
      <p:sp>
        <p:nvSpPr>
          <p:cNvPr id="5" name="Shape 3"/>
          <p:cNvSpPr/>
          <p:nvPr/>
        </p:nvSpPr>
        <p:spPr>
          <a:xfrm>
            <a:off x="548640" y="1600200"/>
            <a:ext cx="2606040" cy="228600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6000"/>
              </a:srgbClr>
            </a:outerShdw>
          </a:effectLst>
        </p:spPr>
      </p:sp>
      <p:sp>
        <p:nvSpPr>
          <p:cNvPr id="6" name="Text 4"/>
          <p:cNvSpPr/>
          <p:nvPr/>
        </p:nvSpPr>
        <p:spPr>
          <a:xfrm>
            <a:off x="749808" y="1801368"/>
            <a:ext cx="2240280" cy="411480"/>
          </a:xfrm>
          <a:prstGeom prst="rect">
            <a:avLst/>
          </a:prstGeom>
          <a:noFill/>
          <a:ln/>
        </p:spPr>
        <p:txBody>
          <a:bodyPr wrap="square" rtlCol="0" anchor="ctr"/>
          <a:lstStyle/>
          <a:p>
            <a:pPr indent="0" marL="0">
              <a:buNone/>
            </a:pPr>
            <a:r>
              <a:rPr lang="en-US" sz="950" b="1" spc="50" kern="0" dirty="0">
                <a:solidFill>
                  <a:srgbClr val="6B6B6B"/>
                </a:solidFill>
                <a:latin typeface="Calibri" pitchFamily="34" charset="0"/>
                <a:ea typeface="Calibri" pitchFamily="34" charset="-122"/>
                <a:cs typeface="Calibri" pitchFamily="34" charset="-120"/>
              </a:rPr>
              <a:t>RESOLVED TODAY</a:t>
            </a:r>
            <a:endParaRPr lang="en-US" sz="950" dirty="0"/>
          </a:p>
        </p:txBody>
      </p:sp>
      <p:sp>
        <p:nvSpPr>
          <p:cNvPr id="7" name="Text 5"/>
          <p:cNvSpPr/>
          <p:nvPr/>
        </p:nvSpPr>
        <p:spPr>
          <a:xfrm>
            <a:off x="731520" y="2148840"/>
            <a:ext cx="224028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84</a:t>
            </a:r>
            <a:endParaRPr lang="en-US" sz="3400" dirty="0"/>
          </a:p>
        </p:txBody>
      </p:sp>
      <p:sp>
        <p:nvSpPr>
          <p:cNvPr id="8" name="Shape 6"/>
          <p:cNvSpPr/>
          <p:nvPr/>
        </p:nvSpPr>
        <p:spPr>
          <a:xfrm>
            <a:off x="749808" y="2898648"/>
            <a:ext cx="457200" cy="292608"/>
          </a:xfrm>
          <a:prstGeom prst="roundRect">
            <a:avLst>
              <a:gd name="adj" fmla="val 18750"/>
            </a:avLst>
          </a:prstGeom>
          <a:solidFill>
            <a:srgbClr val="DCFCE7"/>
          </a:solidFill>
          <a:ln/>
        </p:spPr>
      </p:sp>
      <p:sp>
        <p:nvSpPr>
          <p:cNvPr id="9" name="Text 7"/>
          <p:cNvSpPr/>
          <p:nvPr/>
        </p:nvSpPr>
        <p:spPr>
          <a:xfrm>
            <a:off x="749808" y="2898648"/>
            <a:ext cx="457200" cy="292608"/>
          </a:xfrm>
          <a:prstGeom prst="rect">
            <a:avLst/>
          </a:prstGeom>
          <a:noFill/>
          <a:ln/>
        </p:spPr>
        <p:txBody>
          <a:bodyPr wrap="square" rtlCol="0" anchor="ctr"/>
          <a:lstStyle/>
          <a:p>
            <a:pPr algn="ctr" indent="0" marL="0">
              <a:buNone/>
            </a:pPr>
            <a:r>
              <a:rPr lang="en-US" sz="1200" b="1" dirty="0">
                <a:solidFill>
                  <a:srgbClr val="16A34A"/>
                </a:solidFill>
                <a:latin typeface="Calibri" pitchFamily="34" charset="0"/>
                <a:ea typeface="Calibri" pitchFamily="34" charset="-122"/>
                <a:cs typeface="Calibri" pitchFamily="34" charset="-120"/>
              </a:rPr>
              <a:t>↑</a:t>
            </a:r>
            <a:endParaRPr lang="en-US" sz="1200" dirty="0"/>
          </a:p>
        </p:txBody>
      </p:sp>
      <p:sp>
        <p:nvSpPr>
          <p:cNvPr id="10" name="Text 8"/>
          <p:cNvSpPr/>
          <p:nvPr/>
        </p:nvSpPr>
        <p:spPr>
          <a:xfrm>
            <a:off x="749808" y="3291840"/>
            <a:ext cx="2194560" cy="502920"/>
          </a:xfrm>
          <a:prstGeom prst="rect">
            <a:avLst/>
          </a:prstGeom>
          <a:noFill/>
          <a:ln/>
        </p:spPr>
        <p:txBody>
          <a:bodyPr wrap="square" rtlCol="0" anchor="ctr"/>
          <a:lstStyle/>
          <a:p>
            <a:pPr indent="0" marL="0">
              <a:buNone/>
            </a:pPr>
            <a:r>
              <a:rPr lang="en-US" sz="950" dirty="0">
                <a:solidFill>
                  <a:srgbClr val="1A1A1A"/>
                </a:solidFill>
                <a:latin typeface="Calibri" pitchFamily="34" charset="0"/>
                <a:ea typeface="Calibri" pitchFamily="34" charset="-122"/>
                <a:cs typeface="Calibri" pitchFamily="34" charset="-120"/>
              </a:rPr>
              <a:t>On pace with daily average</a:t>
            </a:r>
            <a:endParaRPr lang="en-US" sz="950" dirty="0"/>
          </a:p>
        </p:txBody>
      </p:sp>
      <p:sp>
        <p:nvSpPr>
          <p:cNvPr id="11" name="Shape 9"/>
          <p:cNvSpPr/>
          <p:nvPr/>
        </p:nvSpPr>
        <p:spPr>
          <a:xfrm>
            <a:off x="3319272" y="1600200"/>
            <a:ext cx="2606040" cy="228600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6000"/>
              </a:srgbClr>
            </a:outerShdw>
          </a:effectLst>
        </p:spPr>
      </p:sp>
      <p:sp>
        <p:nvSpPr>
          <p:cNvPr id="12" name="Text 10"/>
          <p:cNvSpPr/>
          <p:nvPr/>
        </p:nvSpPr>
        <p:spPr>
          <a:xfrm>
            <a:off x="3520440" y="1801368"/>
            <a:ext cx="2240280" cy="411480"/>
          </a:xfrm>
          <a:prstGeom prst="rect">
            <a:avLst/>
          </a:prstGeom>
          <a:noFill/>
          <a:ln/>
        </p:spPr>
        <p:txBody>
          <a:bodyPr wrap="square" rtlCol="0" anchor="ctr"/>
          <a:lstStyle/>
          <a:p>
            <a:pPr indent="0" marL="0">
              <a:buNone/>
            </a:pPr>
            <a:r>
              <a:rPr lang="en-US" sz="950" b="1" spc="50" kern="0" dirty="0">
                <a:solidFill>
                  <a:srgbClr val="6B6B6B"/>
                </a:solidFill>
                <a:latin typeface="Calibri" pitchFamily="34" charset="0"/>
                <a:ea typeface="Calibri" pitchFamily="34" charset="-122"/>
                <a:cs typeface="Calibri" pitchFamily="34" charset="-120"/>
              </a:rPr>
              <a:t>AVG HANDLE TIME</a:t>
            </a:r>
            <a:endParaRPr lang="en-US" sz="950" dirty="0"/>
          </a:p>
        </p:txBody>
      </p:sp>
      <p:sp>
        <p:nvSpPr>
          <p:cNvPr id="13" name="Text 11"/>
          <p:cNvSpPr/>
          <p:nvPr/>
        </p:nvSpPr>
        <p:spPr>
          <a:xfrm>
            <a:off x="3502152" y="2148840"/>
            <a:ext cx="224028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8.3m</a:t>
            </a:r>
            <a:endParaRPr lang="en-US" sz="3400" dirty="0"/>
          </a:p>
        </p:txBody>
      </p:sp>
      <p:sp>
        <p:nvSpPr>
          <p:cNvPr id="14" name="Shape 12"/>
          <p:cNvSpPr/>
          <p:nvPr/>
        </p:nvSpPr>
        <p:spPr>
          <a:xfrm>
            <a:off x="3520440" y="2898648"/>
            <a:ext cx="457200" cy="292608"/>
          </a:xfrm>
          <a:prstGeom prst="roundRect">
            <a:avLst>
              <a:gd name="adj" fmla="val 18750"/>
            </a:avLst>
          </a:prstGeom>
          <a:solidFill>
            <a:srgbClr val="DCFCE7"/>
          </a:solidFill>
          <a:ln/>
        </p:spPr>
      </p:sp>
      <p:sp>
        <p:nvSpPr>
          <p:cNvPr id="15" name="Text 13"/>
          <p:cNvSpPr/>
          <p:nvPr/>
        </p:nvSpPr>
        <p:spPr>
          <a:xfrm>
            <a:off x="3520440" y="2898648"/>
            <a:ext cx="457200" cy="292608"/>
          </a:xfrm>
          <a:prstGeom prst="rect">
            <a:avLst/>
          </a:prstGeom>
          <a:noFill/>
          <a:ln/>
        </p:spPr>
        <p:txBody>
          <a:bodyPr wrap="square" rtlCol="0" anchor="ctr"/>
          <a:lstStyle/>
          <a:p>
            <a:pPr algn="ctr" indent="0" marL="0">
              <a:buNone/>
            </a:pPr>
            <a:r>
              <a:rPr lang="en-US" sz="1200" b="1" dirty="0">
                <a:solidFill>
                  <a:srgbClr val="16A34A"/>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3520440" y="3291840"/>
            <a:ext cx="2194560" cy="502920"/>
          </a:xfrm>
          <a:prstGeom prst="rect">
            <a:avLst/>
          </a:prstGeom>
          <a:noFill/>
          <a:ln/>
        </p:spPr>
        <p:txBody>
          <a:bodyPr wrap="square" rtlCol="0" anchor="ctr"/>
          <a:lstStyle/>
          <a:p>
            <a:pPr indent="0" marL="0">
              <a:buNone/>
            </a:pPr>
            <a:r>
              <a:rPr lang="en-US" sz="950" dirty="0">
                <a:solidFill>
                  <a:srgbClr val="1A1A1A"/>
                </a:solidFill>
                <a:latin typeface="Calibri" pitchFamily="34" charset="0"/>
                <a:ea typeface="Calibri" pitchFamily="34" charset="-122"/>
                <a:cs typeface="Calibri" pitchFamily="34" charset="-120"/>
              </a:rPr>
              <a:t>Stable week over week</a:t>
            </a:r>
            <a:endParaRPr lang="en-US" sz="950" dirty="0"/>
          </a:p>
        </p:txBody>
      </p:sp>
      <p:sp>
        <p:nvSpPr>
          <p:cNvPr id="17" name="Shape 15"/>
          <p:cNvSpPr/>
          <p:nvPr/>
        </p:nvSpPr>
        <p:spPr>
          <a:xfrm>
            <a:off x="6089904" y="1600200"/>
            <a:ext cx="2606040" cy="228600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6000"/>
              </a:srgbClr>
            </a:outerShdw>
          </a:effectLst>
        </p:spPr>
      </p:sp>
      <p:sp>
        <p:nvSpPr>
          <p:cNvPr id="18" name="Text 16"/>
          <p:cNvSpPr/>
          <p:nvPr/>
        </p:nvSpPr>
        <p:spPr>
          <a:xfrm>
            <a:off x="6291072" y="1801368"/>
            <a:ext cx="2240280" cy="411480"/>
          </a:xfrm>
          <a:prstGeom prst="rect">
            <a:avLst/>
          </a:prstGeom>
          <a:noFill/>
          <a:ln/>
        </p:spPr>
        <p:txBody>
          <a:bodyPr wrap="square" rtlCol="0" anchor="ctr"/>
          <a:lstStyle/>
          <a:p>
            <a:pPr indent="0" marL="0">
              <a:buNone/>
            </a:pPr>
            <a:r>
              <a:rPr lang="en-US" sz="950" b="1" spc="50" kern="0" dirty="0">
                <a:solidFill>
                  <a:srgbClr val="6B6B6B"/>
                </a:solidFill>
                <a:latin typeface="Calibri" pitchFamily="34" charset="0"/>
                <a:ea typeface="Calibri" pitchFamily="34" charset="-122"/>
                <a:cs typeface="Calibri" pitchFamily="34" charset="-120"/>
              </a:rPr>
              <a:t>REOPENED TICKETS</a:t>
            </a:r>
            <a:endParaRPr lang="en-US" sz="950" dirty="0"/>
          </a:p>
        </p:txBody>
      </p:sp>
      <p:sp>
        <p:nvSpPr>
          <p:cNvPr id="19" name="Text 17"/>
          <p:cNvSpPr/>
          <p:nvPr/>
        </p:nvSpPr>
        <p:spPr>
          <a:xfrm>
            <a:off x="6272784" y="2148840"/>
            <a:ext cx="224028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12</a:t>
            </a:r>
            <a:endParaRPr lang="en-US" sz="3400" dirty="0"/>
          </a:p>
        </p:txBody>
      </p:sp>
      <p:sp>
        <p:nvSpPr>
          <p:cNvPr id="20" name="Shape 18"/>
          <p:cNvSpPr/>
          <p:nvPr/>
        </p:nvSpPr>
        <p:spPr>
          <a:xfrm>
            <a:off x="6291072" y="2898648"/>
            <a:ext cx="457200" cy="292608"/>
          </a:xfrm>
          <a:prstGeom prst="roundRect">
            <a:avLst>
              <a:gd name="adj" fmla="val 18750"/>
            </a:avLst>
          </a:prstGeom>
          <a:solidFill>
            <a:srgbClr val="FEE2E2"/>
          </a:solidFill>
          <a:ln/>
        </p:spPr>
      </p:sp>
      <p:sp>
        <p:nvSpPr>
          <p:cNvPr id="21" name="Text 19"/>
          <p:cNvSpPr/>
          <p:nvPr/>
        </p:nvSpPr>
        <p:spPr>
          <a:xfrm>
            <a:off x="6291072" y="2898648"/>
            <a:ext cx="457200" cy="292608"/>
          </a:xfrm>
          <a:prstGeom prst="rect">
            <a:avLst/>
          </a:prstGeom>
          <a:noFill/>
          <a:ln/>
        </p:spPr>
        <p:txBody>
          <a:bodyPr wrap="square"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6291072" y="3291840"/>
            <a:ext cx="2194560" cy="502920"/>
          </a:xfrm>
          <a:prstGeom prst="rect">
            <a:avLst/>
          </a:prstGeom>
          <a:noFill/>
          <a:ln/>
        </p:spPr>
        <p:txBody>
          <a:bodyPr wrap="square" rtlCol="0" anchor="ctr"/>
          <a:lstStyle/>
          <a:p>
            <a:pPr indent="0" marL="0">
              <a:buNone/>
            </a:pPr>
            <a:r>
              <a:rPr lang="en-US" sz="950" dirty="0">
                <a:solidFill>
                  <a:srgbClr val="1A1A1A"/>
                </a:solidFill>
                <a:latin typeface="Calibri" pitchFamily="34" charset="0"/>
                <a:ea typeface="Calibri" pitchFamily="34" charset="-122"/>
                <a:cs typeface="Calibri" pitchFamily="34" charset="-120"/>
              </a:rPr>
              <a:t>Trending up — needs review</a:t>
            </a:r>
            <a:endParaRPr lang="en-US" sz="950" dirty="0"/>
          </a:p>
        </p:txBody>
      </p:sp>
      <p:sp>
        <p:nvSpPr>
          <p:cNvPr id="23" name="Shape 21"/>
          <p:cNvSpPr/>
          <p:nvPr/>
        </p:nvSpPr>
        <p:spPr>
          <a:xfrm>
            <a:off x="8860536" y="1600200"/>
            <a:ext cx="2606040" cy="2286000"/>
          </a:xfrm>
          <a:prstGeom prst="rect">
            <a:avLst/>
          </a:prstGeom>
          <a:solidFill>
            <a:srgbClr val="FFFFFF"/>
          </a:solidFill>
          <a:ln w="12700">
            <a:solidFill>
              <a:srgbClr val="E5E5E5"/>
            </a:solidFill>
            <a:prstDash val="solid"/>
          </a:ln>
          <a:effectLst>
            <a:outerShdw sx="100000" sy="100000" kx="0" ky="0" algn="bl" rotWithShape="0" blurRad="76200" dist="25400" dir="5400000">
              <a:srgbClr val="000000">
                <a:alpha val="6000"/>
              </a:srgbClr>
            </a:outerShdw>
          </a:effectLst>
        </p:spPr>
      </p:sp>
      <p:sp>
        <p:nvSpPr>
          <p:cNvPr id="24" name="Text 22"/>
          <p:cNvSpPr/>
          <p:nvPr/>
        </p:nvSpPr>
        <p:spPr>
          <a:xfrm>
            <a:off x="9061704" y="1801368"/>
            <a:ext cx="2240280" cy="411480"/>
          </a:xfrm>
          <a:prstGeom prst="rect">
            <a:avLst/>
          </a:prstGeom>
          <a:noFill/>
          <a:ln/>
        </p:spPr>
        <p:txBody>
          <a:bodyPr wrap="square" rtlCol="0" anchor="ctr"/>
          <a:lstStyle/>
          <a:p>
            <a:pPr indent="0" marL="0">
              <a:buNone/>
            </a:pPr>
            <a:r>
              <a:rPr lang="en-US" sz="950" b="1" spc="50" kern="0" dirty="0">
                <a:solidFill>
                  <a:srgbClr val="6B6B6B"/>
                </a:solidFill>
                <a:latin typeface="Calibri" pitchFamily="34" charset="0"/>
                <a:ea typeface="Calibri" pitchFamily="34" charset="-122"/>
                <a:cs typeface="Calibri" pitchFamily="34" charset="-120"/>
              </a:rPr>
              <a:t>ESCALATIONS</a:t>
            </a:r>
            <a:endParaRPr lang="en-US" sz="950" dirty="0"/>
          </a:p>
        </p:txBody>
      </p:sp>
      <p:sp>
        <p:nvSpPr>
          <p:cNvPr id="25" name="Text 23"/>
          <p:cNvSpPr/>
          <p:nvPr/>
        </p:nvSpPr>
        <p:spPr>
          <a:xfrm>
            <a:off x="9043416" y="2148840"/>
            <a:ext cx="2240280" cy="685800"/>
          </a:xfrm>
          <a:prstGeom prst="rect">
            <a:avLst/>
          </a:prstGeom>
          <a:noFill/>
          <a:ln/>
        </p:spPr>
        <p:txBody>
          <a:bodyPr wrap="square" rtlCol="0" anchor="ctr"/>
          <a:lstStyle/>
          <a:p>
            <a:pPr indent="0" marL="0">
              <a:buNone/>
            </a:pPr>
            <a:r>
              <a:rPr lang="en-US" sz="3400" b="1" dirty="0">
                <a:solidFill>
                  <a:srgbClr val="1A1A1A"/>
                </a:solidFill>
                <a:latin typeface="Cambria" pitchFamily="34" charset="0"/>
                <a:ea typeface="Cambria" pitchFamily="34" charset="-122"/>
                <a:cs typeface="Cambria" pitchFamily="34" charset="-120"/>
              </a:rPr>
              <a:t>5</a:t>
            </a:r>
            <a:endParaRPr lang="en-US" sz="3400" dirty="0"/>
          </a:p>
        </p:txBody>
      </p:sp>
      <p:sp>
        <p:nvSpPr>
          <p:cNvPr id="26" name="Shape 24"/>
          <p:cNvSpPr/>
          <p:nvPr/>
        </p:nvSpPr>
        <p:spPr>
          <a:xfrm>
            <a:off x="9061704" y="2898648"/>
            <a:ext cx="457200" cy="292608"/>
          </a:xfrm>
          <a:prstGeom prst="roundRect">
            <a:avLst>
              <a:gd name="adj" fmla="val 18750"/>
            </a:avLst>
          </a:prstGeom>
          <a:solidFill>
            <a:srgbClr val="FEF3C7"/>
          </a:solidFill>
          <a:ln/>
        </p:spPr>
      </p:sp>
      <p:sp>
        <p:nvSpPr>
          <p:cNvPr id="27" name="Text 25"/>
          <p:cNvSpPr/>
          <p:nvPr/>
        </p:nvSpPr>
        <p:spPr>
          <a:xfrm>
            <a:off x="9061704" y="2898648"/>
            <a:ext cx="457200" cy="292608"/>
          </a:xfrm>
          <a:prstGeom prst="rect">
            <a:avLst/>
          </a:prstGeom>
          <a:noFill/>
          <a:ln/>
        </p:spPr>
        <p:txBody>
          <a:bodyPr wrap="square" rtlCol="0" anchor="ctr"/>
          <a:lstStyle/>
          <a:p>
            <a:pPr algn="ctr" indent="0" marL="0">
              <a:buNone/>
            </a:pPr>
            <a:r>
              <a:rPr lang="en-US" sz="1200" b="1" dirty="0">
                <a:solidFill>
                  <a:srgbClr val="D97706"/>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9061704" y="3291840"/>
            <a:ext cx="2194560" cy="502920"/>
          </a:xfrm>
          <a:prstGeom prst="rect">
            <a:avLst/>
          </a:prstGeom>
          <a:noFill/>
          <a:ln/>
        </p:spPr>
        <p:txBody>
          <a:bodyPr wrap="square" rtlCol="0" anchor="ctr"/>
          <a:lstStyle/>
          <a:p>
            <a:pPr indent="0" marL="0">
              <a:buNone/>
            </a:pPr>
            <a:r>
              <a:rPr lang="en-US" sz="950" dirty="0">
                <a:solidFill>
                  <a:srgbClr val="1A1A1A"/>
                </a:solidFill>
                <a:latin typeface="Calibri" pitchFamily="34" charset="0"/>
                <a:ea typeface="Calibri" pitchFamily="34" charset="-122"/>
                <a:cs typeface="Calibri" pitchFamily="34" charset="-120"/>
              </a:rPr>
              <a:t>Slightly elevated, monitor</a:t>
            </a:r>
            <a:endParaRPr lang="en-US" sz="950" dirty="0"/>
          </a:p>
        </p:txBody>
      </p:sp>
      <p:sp>
        <p:nvSpPr>
          <p:cNvPr id="29" name="Text 27"/>
          <p:cNvSpPr/>
          <p:nvPr/>
        </p:nvSpPr>
        <p:spPr>
          <a:xfrm>
            <a:off x="548640" y="4160520"/>
            <a:ext cx="10607040" cy="548640"/>
          </a:xfrm>
          <a:prstGeom prst="rect">
            <a:avLst/>
          </a:prstGeom>
          <a:noFill/>
          <a:ln/>
        </p:spPr>
        <p:txBody>
          <a:bodyPr wrap="square" rtlCol="0" anchor="ctr"/>
          <a:lstStyle/>
          <a:p>
            <a:pPr indent="0" marL="0">
              <a:buNone/>
            </a:pPr>
            <a:r>
              <a:rPr lang="en-US" sz="1300" i="1" dirty="0">
                <a:solidFill>
                  <a:srgbClr val="1A1A1A"/>
                </a:solidFill>
                <a:latin typeface="Calibri" pitchFamily="34" charset="0"/>
                <a:ea typeface="Calibri" pitchFamily="34" charset="-122"/>
                <a:cs typeface="Calibri" pitchFamily="34" charset="-120"/>
              </a:rPr>
              <a:t>Reopened tickets and escalations are the two signals diverging from an otherwise healthy picture — both warrant a closer look at root cause before they compound.</a:t>
            </a:r>
            <a:endParaRPr lang="en-US" sz="1300" dirty="0"/>
          </a:p>
        </p:txBody>
      </p:sp>
      <p:sp>
        <p:nvSpPr>
          <p:cNvPr id="30" name="Shape 28"/>
          <p:cNvSpPr/>
          <p:nvPr/>
        </p:nvSpPr>
        <p:spPr>
          <a:xfrm>
            <a:off x="548640" y="4892040"/>
            <a:ext cx="10607040" cy="1234440"/>
          </a:xfrm>
          <a:prstGeom prst="rect">
            <a:avLst/>
          </a:prstGeom>
          <a:solidFill>
            <a:srgbClr val="F0ECFF"/>
          </a:solidFill>
          <a:ln/>
        </p:spPr>
      </p:sp>
      <p:sp>
        <p:nvSpPr>
          <p:cNvPr id="31" name="Text 29"/>
          <p:cNvSpPr/>
          <p:nvPr/>
        </p:nvSpPr>
        <p:spPr>
          <a:xfrm>
            <a:off x="868680" y="5084064"/>
            <a:ext cx="4572000" cy="320040"/>
          </a:xfrm>
          <a:prstGeom prst="rect">
            <a:avLst/>
          </a:prstGeom>
          <a:noFill/>
          <a:ln/>
        </p:spPr>
        <p:txBody>
          <a:bodyPr wrap="square" rtlCol="0" anchor="ctr"/>
          <a:lstStyle/>
          <a:p>
            <a:pPr indent="0" marL="0">
              <a:buNone/>
            </a:pPr>
            <a:r>
              <a:rPr lang="en-US" sz="1300" b="1" dirty="0">
                <a:solidFill>
                  <a:srgbClr val="5B3FD9"/>
                </a:solidFill>
                <a:latin typeface="Cambria" pitchFamily="34" charset="0"/>
                <a:ea typeface="Cambria" pitchFamily="34" charset="-122"/>
                <a:cs typeface="Cambria" pitchFamily="34" charset="-120"/>
              </a:rPr>
              <a:t>Read together</a:t>
            </a:r>
            <a:endParaRPr lang="en-US" sz="1300" dirty="0"/>
          </a:p>
        </p:txBody>
      </p:sp>
      <p:sp>
        <p:nvSpPr>
          <p:cNvPr id="32" name="Text 30"/>
          <p:cNvSpPr/>
          <p:nvPr/>
        </p:nvSpPr>
        <p:spPr>
          <a:xfrm>
            <a:off x="868680" y="5394960"/>
            <a:ext cx="9966960" cy="640080"/>
          </a:xfrm>
          <a:prstGeom prst="rect">
            <a:avLst/>
          </a:prstGeom>
          <a:noFill/>
          <a:ln/>
        </p:spPr>
        <p:txBody>
          <a:bodyPr wrap="square" rtlCol="0" anchor="ctr"/>
          <a:lstStyle/>
          <a:p>
            <a:pPr indent="0" marL="0">
              <a:buNone/>
            </a:pPr>
            <a:r>
              <a:rPr lang="en-US" sz="1150" dirty="0">
                <a:solidFill>
                  <a:srgbClr val="1A1A1A"/>
                </a:solidFill>
                <a:latin typeface="Calibri" pitchFamily="34" charset="0"/>
                <a:ea typeface="Calibri" pitchFamily="34" charset="-122"/>
                <a:cs typeface="Calibri" pitchFamily="34" charset="-120"/>
              </a:rPr>
              <a:t>Resolved volume and handle time are both holding steady — the team isn't under strain. The risk is narrower than it looks: reopens and escalations are isolated upticks, not a system-wide slowdown, which makes them easier to trace and fix.</a:t>
            </a:r>
            <a:endParaRPr lang="en-US" sz="1150" dirty="0"/>
          </a:p>
        </p:txBody>
      </p:sp>
      <p:sp>
        <p:nvSpPr>
          <p:cNvPr id="33" name="Text 31"/>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548640" y="448056"/>
            <a:ext cx="91440" cy="91440"/>
          </a:xfrm>
          <a:prstGeom prst="ellipse">
            <a:avLst/>
          </a:prstGeom>
          <a:solidFill>
            <a:srgbClr val="7856FF"/>
          </a:solidFill>
          <a:ln/>
        </p:spPr>
      </p:sp>
      <p:sp>
        <p:nvSpPr>
          <p:cNvPr id="3" name="Text 1"/>
          <p:cNvSpPr/>
          <p:nvPr/>
        </p:nvSpPr>
        <p:spPr>
          <a:xfrm>
            <a:off x="749808" y="411480"/>
            <a:ext cx="5486400" cy="228600"/>
          </a:xfrm>
          <a:prstGeom prst="rect">
            <a:avLst/>
          </a:prstGeom>
          <a:noFill/>
          <a:ln/>
        </p:spPr>
        <p:txBody>
          <a:bodyPr wrap="square" rtlCol="0" anchor="ctr"/>
          <a:lstStyle/>
          <a:p>
            <a:pPr indent="0" marL="0">
              <a:buNone/>
            </a:pPr>
            <a:r>
              <a:rPr lang="en-US" sz="1100" b="1" spc="200" kern="0" dirty="0">
                <a:solidFill>
                  <a:srgbClr val="7856FF"/>
                </a:solidFill>
                <a:latin typeface="Calibri" pitchFamily="34" charset="0"/>
                <a:ea typeface="Calibri" pitchFamily="34" charset="-122"/>
                <a:cs typeface="Calibri" pitchFamily="34" charset="-120"/>
              </a:rPr>
              <a:t>05 · RISKS &amp; NEXT STEPS</a:t>
            </a:r>
            <a:endParaRPr lang="en-US" sz="1100" dirty="0"/>
          </a:p>
        </p:txBody>
      </p:sp>
      <p:sp>
        <p:nvSpPr>
          <p:cNvPr id="4" name="Text 2"/>
          <p:cNvSpPr/>
          <p:nvPr/>
        </p:nvSpPr>
        <p:spPr>
          <a:xfrm>
            <a:off x="548640" y="685800"/>
            <a:ext cx="9601200" cy="54864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Proposed next steps</a:t>
            </a:r>
            <a:endParaRPr lang="en-US" sz="2800" dirty="0"/>
          </a:p>
        </p:txBody>
      </p:sp>
      <p:sp>
        <p:nvSpPr>
          <p:cNvPr id="5" name="Shape 3"/>
          <p:cNvSpPr/>
          <p:nvPr/>
        </p:nvSpPr>
        <p:spPr>
          <a:xfrm>
            <a:off x="548640" y="1554480"/>
            <a:ext cx="11064240" cy="1078992"/>
          </a:xfrm>
          <a:prstGeom prst="rect">
            <a:avLst/>
          </a:prstGeom>
          <a:solidFill>
            <a:srgbClr val="FFFFFF"/>
          </a:solidFill>
          <a:ln w="12700">
            <a:solidFill>
              <a:srgbClr val="E5E5E5"/>
            </a:solidFill>
            <a:prstDash val="solid"/>
          </a:ln>
          <a:effectLst>
            <a:outerShdw sx="100000" sy="100000" kx="0" ky="0" algn="bl" rotWithShape="0" blurRad="63500" dist="25400" dir="5400000">
              <a:srgbClr val="000000">
                <a:alpha val="5000"/>
              </a:srgbClr>
            </a:outerShdw>
          </a:effectLst>
        </p:spPr>
      </p:sp>
      <p:sp>
        <p:nvSpPr>
          <p:cNvPr id="6" name="Shape 4"/>
          <p:cNvSpPr/>
          <p:nvPr/>
        </p:nvSpPr>
        <p:spPr>
          <a:xfrm>
            <a:off x="777240" y="1801368"/>
            <a:ext cx="566928" cy="566928"/>
          </a:xfrm>
          <a:prstGeom prst="ellipse">
            <a:avLst/>
          </a:prstGeom>
          <a:solidFill>
            <a:srgbClr val="7856FF"/>
          </a:solidFill>
          <a:ln/>
        </p:spPr>
      </p:sp>
      <p:sp>
        <p:nvSpPr>
          <p:cNvPr id="7" name="Text 5"/>
          <p:cNvSpPr/>
          <p:nvPr/>
        </p:nvSpPr>
        <p:spPr>
          <a:xfrm>
            <a:off x="777240" y="1801368"/>
            <a:ext cx="566928" cy="56692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600200" y="1673352"/>
            <a:ext cx="7132320" cy="320040"/>
          </a:xfrm>
          <a:prstGeom prst="rect">
            <a:avLst/>
          </a:prstGeom>
          <a:noFill/>
          <a:ln/>
        </p:spPr>
        <p:txBody>
          <a:bodyPr wrap="square"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Investigate reopened tickets</a:t>
            </a:r>
            <a:endParaRPr lang="en-US" sz="1450" dirty="0"/>
          </a:p>
        </p:txBody>
      </p:sp>
      <p:sp>
        <p:nvSpPr>
          <p:cNvPr id="9" name="Text 7"/>
          <p:cNvSpPr/>
          <p:nvPr/>
        </p:nvSpPr>
        <p:spPr>
          <a:xfrm>
            <a:off x="1600200" y="1993392"/>
            <a:ext cx="7132320" cy="566928"/>
          </a:xfrm>
          <a:prstGeom prst="rect">
            <a:avLst/>
          </a:prstGeom>
          <a:noFill/>
          <a:ln/>
        </p:spPr>
        <p:txBody>
          <a:bodyPr wrap="square" rtlCol="0" anchor="ctr"/>
          <a:lstStyle/>
          <a:p>
            <a:pPr indent="0" marL="0">
              <a:buNone/>
            </a:pPr>
            <a:r>
              <a:rPr lang="en-US" sz="1050" dirty="0">
                <a:solidFill>
                  <a:srgbClr val="6B6B6B"/>
                </a:solidFill>
                <a:latin typeface="Calibri" pitchFamily="34" charset="0"/>
                <a:ea typeface="Calibri" pitchFamily="34" charset="-122"/>
                <a:cs typeface="Calibri" pitchFamily="34" charset="-120"/>
              </a:rPr>
              <a:t>Pull the 12 reopened cases and tag root cause — first-contact resolution gaps vs. genuine recurring issues.</a:t>
            </a:r>
            <a:endParaRPr lang="en-US" sz="1050" dirty="0"/>
          </a:p>
        </p:txBody>
      </p:sp>
      <p:sp>
        <p:nvSpPr>
          <p:cNvPr id="10" name="Shape 8"/>
          <p:cNvSpPr/>
          <p:nvPr/>
        </p:nvSpPr>
        <p:spPr>
          <a:xfrm>
            <a:off x="9921240" y="1920240"/>
            <a:ext cx="1508760" cy="347472"/>
          </a:xfrm>
          <a:prstGeom prst="roundRect">
            <a:avLst>
              <a:gd name="adj" fmla="val 15789"/>
            </a:avLst>
          </a:prstGeom>
          <a:solidFill>
            <a:srgbClr val="F0ECFF"/>
          </a:solidFill>
          <a:ln/>
        </p:spPr>
      </p:sp>
      <p:sp>
        <p:nvSpPr>
          <p:cNvPr id="11" name="Text 9"/>
          <p:cNvSpPr/>
          <p:nvPr/>
        </p:nvSpPr>
        <p:spPr>
          <a:xfrm>
            <a:off x="9921240" y="1920240"/>
            <a:ext cx="1508760" cy="347472"/>
          </a:xfrm>
          <a:prstGeom prst="rect">
            <a:avLst/>
          </a:prstGeom>
          <a:noFill/>
          <a:ln/>
        </p:spPr>
        <p:txBody>
          <a:bodyPr wrap="square" rtlCol="0" anchor="ctr"/>
          <a:lstStyle/>
          <a:p>
            <a:pPr algn="ctr" indent="0" marL="0">
              <a:buNone/>
            </a:pPr>
            <a:r>
              <a:rPr lang="en-US" sz="950" b="1" dirty="0">
                <a:solidFill>
                  <a:srgbClr val="5B3FD9"/>
                </a:solidFill>
                <a:latin typeface="Calibri" pitchFamily="34" charset="0"/>
                <a:ea typeface="Calibri" pitchFamily="34" charset="-122"/>
                <a:cs typeface="Calibri" pitchFamily="34" charset="-120"/>
              </a:rPr>
              <a:t>This week</a:t>
            </a:r>
            <a:endParaRPr lang="en-US" sz="950" dirty="0"/>
          </a:p>
        </p:txBody>
      </p:sp>
      <p:sp>
        <p:nvSpPr>
          <p:cNvPr id="12" name="Shape 10"/>
          <p:cNvSpPr/>
          <p:nvPr/>
        </p:nvSpPr>
        <p:spPr>
          <a:xfrm>
            <a:off x="548640" y="2816352"/>
            <a:ext cx="11064240" cy="1078992"/>
          </a:xfrm>
          <a:prstGeom prst="rect">
            <a:avLst/>
          </a:prstGeom>
          <a:solidFill>
            <a:srgbClr val="FFFFFF"/>
          </a:solidFill>
          <a:ln w="12700">
            <a:solidFill>
              <a:srgbClr val="E5E5E5"/>
            </a:solidFill>
            <a:prstDash val="solid"/>
          </a:ln>
          <a:effectLst>
            <a:outerShdw sx="100000" sy="100000" kx="0" ky="0" algn="bl" rotWithShape="0" blurRad="63500" dist="25400" dir="5400000">
              <a:srgbClr val="000000">
                <a:alpha val="5000"/>
              </a:srgbClr>
            </a:outerShdw>
          </a:effectLst>
        </p:spPr>
      </p:sp>
      <p:sp>
        <p:nvSpPr>
          <p:cNvPr id="13" name="Shape 11"/>
          <p:cNvSpPr/>
          <p:nvPr/>
        </p:nvSpPr>
        <p:spPr>
          <a:xfrm>
            <a:off x="777240" y="3063240"/>
            <a:ext cx="566928" cy="566928"/>
          </a:xfrm>
          <a:prstGeom prst="ellipse">
            <a:avLst/>
          </a:prstGeom>
          <a:solidFill>
            <a:srgbClr val="7856FF"/>
          </a:solidFill>
          <a:ln/>
        </p:spPr>
      </p:sp>
      <p:sp>
        <p:nvSpPr>
          <p:cNvPr id="14" name="Text 12"/>
          <p:cNvSpPr/>
          <p:nvPr/>
        </p:nvSpPr>
        <p:spPr>
          <a:xfrm>
            <a:off x="777240" y="3063240"/>
            <a:ext cx="566928" cy="56692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1600200" y="2935224"/>
            <a:ext cx="7132320" cy="320040"/>
          </a:xfrm>
          <a:prstGeom prst="rect">
            <a:avLst/>
          </a:prstGeom>
          <a:noFill/>
          <a:ln/>
        </p:spPr>
        <p:txBody>
          <a:bodyPr wrap="square"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Pressure-test staffing against the volume spike</a:t>
            </a:r>
            <a:endParaRPr lang="en-US" sz="1450" dirty="0"/>
          </a:p>
        </p:txBody>
      </p:sp>
      <p:sp>
        <p:nvSpPr>
          <p:cNvPr id="16" name="Text 14"/>
          <p:cNvSpPr/>
          <p:nvPr/>
        </p:nvSpPr>
        <p:spPr>
          <a:xfrm>
            <a:off x="1600200" y="3255264"/>
            <a:ext cx="7132320" cy="566928"/>
          </a:xfrm>
          <a:prstGeom prst="rect">
            <a:avLst/>
          </a:prstGeom>
          <a:noFill/>
          <a:ln/>
        </p:spPr>
        <p:txBody>
          <a:bodyPr wrap="square" rtlCol="0" anchor="ctr"/>
          <a:lstStyle/>
          <a:p>
            <a:pPr indent="0" marL="0">
              <a:buNone/>
            </a:pPr>
            <a:r>
              <a:rPr lang="en-US" sz="1050" dirty="0">
                <a:solidFill>
                  <a:srgbClr val="6B6B6B"/>
                </a:solidFill>
                <a:latin typeface="Calibri" pitchFamily="34" charset="0"/>
                <a:ea typeface="Calibri" pitchFamily="34" charset="-122"/>
                <a:cs typeface="Calibri" pitchFamily="34" charset="-120"/>
              </a:rPr>
              <a:t>The late-month climb in conversation volume should inform shift coverage for the next cycle, not just this one.</a:t>
            </a:r>
            <a:endParaRPr lang="en-US" sz="1050" dirty="0"/>
          </a:p>
        </p:txBody>
      </p:sp>
      <p:sp>
        <p:nvSpPr>
          <p:cNvPr id="17" name="Shape 15"/>
          <p:cNvSpPr/>
          <p:nvPr/>
        </p:nvSpPr>
        <p:spPr>
          <a:xfrm>
            <a:off x="9921240" y="3182112"/>
            <a:ext cx="1508760" cy="347472"/>
          </a:xfrm>
          <a:prstGeom prst="roundRect">
            <a:avLst>
              <a:gd name="adj" fmla="val 15789"/>
            </a:avLst>
          </a:prstGeom>
          <a:solidFill>
            <a:srgbClr val="F0ECFF"/>
          </a:solidFill>
          <a:ln/>
        </p:spPr>
      </p:sp>
      <p:sp>
        <p:nvSpPr>
          <p:cNvPr id="18" name="Text 16"/>
          <p:cNvSpPr/>
          <p:nvPr/>
        </p:nvSpPr>
        <p:spPr>
          <a:xfrm>
            <a:off x="9921240" y="3182112"/>
            <a:ext cx="1508760" cy="347472"/>
          </a:xfrm>
          <a:prstGeom prst="rect">
            <a:avLst/>
          </a:prstGeom>
          <a:noFill/>
          <a:ln/>
        </p:spPr>
        <p:txBody>
          <a:bodyPr wrap="square" rtlCol="0" anchor="ctr"/>
          <a:lstStyle/>
          <a:p>
            <a:pPr algn="ctr" indent="0" marL="0">
              <a:buNone/>
            </a:pPr>
            <a:r>
              <a:rPr lang="en-US" sz="950" b="1" dirty="0">
                <a:solidFill>
                  <a:srgbClr val="5B3FD9"/>
                </a:solidFill>
                <a:latin typeface="Calibri" pitchFamily="34" charset="0"/>
                <a:ea typeface="Calibri" pitchFamily="34" charset="-122"/>
                <a:cs typeface="Calibri" pitchFamily="34" charset="-120"/>
              </a:rPr>
              <a:t>Next 2 weeks</a:t>
            </a:r>
            <a:endParaRPr lang="en-US" sz="950" dirty="0"/>
          </a:p>
        </p:txBody>
      </p:sp>
      <p:sp>
        <p:nvSpPr>
          <p:cNvPr id="19" name="Shape 17"/>
          <p:cNvSpPr/>
          <p:nvPr/>
        </p:nvSpPr>
        <p:spPr>
          <a:xfrm>
            <a:off x="548640" y="4078224"/>
            <a:ext cx="11064240" cy="1078992"/>
          </a:xfrm>
          <a:prstGeom prst="rect">
            <a:avLst/>
          </a:prstGeom>
          <a:solidFill>
            <a:srgbClr val="FFFFFF"/>
          </a:solidFill>
          <a:ln w="12700">
            <a:solidFill>
              <a:srgbClr val="E5E5E5"/>
            </a:solidFill>
            <a:prstDash val="solid"/>
          </a:ln>
          <a:effectLst>
            <a:outerShdw sx="100000" sy="100000" kx="0" ky="0" algn="bl" rotWithShape="0" blurRad="63500" dist="25400" dir="5400000">
              <a:srgbClr val="000000">
                <a:alpha val="5000"/>
              </a:srgbClr>
            </a:outerShdw>
          </a:effectLst>
        </p:spPr>
      </p:sp>
      <p:sp>
        <p:nvSpPr>
          <p:cNvPr id="20" name="Shape 18"/>
          <p:cNvSpPr/>
          <p:nvPr/>
        </p:nvSpPr>
        <p:spPr>
          <a:xfrm>
            <a:off x="777240" y="4325112"/>
            <a:ext cx="566928" cy="566928"/>
          </a:xfrm>
          <a:prstGeom prst="ellipse">
            <a:avLst/>
          </a:prstGeom>
          <a:solidFill>
            <a:srgbClr val="7856FF"/>
          </a:solidFill>
          <a:ln/>
        </p:spPr>
      </p:sp>
      <p:sp>
        <p:nvSpPr>
          <p:cNvPr id="21" name="Text 19"/>
          <p:cNvSpPr/>
          <p:nvPr/>
        </p:nvSpPr>
        <p:spPr>
          <a:xfrm>
            <a:off x="777240" y="4325112"/>
            <a:ext cx="566928" cy="56692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2" name="Text 20"/>
          <p:cNvSpPr/>
          <p:nvPr/>
        </p:nvSpPr>
        <p:spPr>
          <a:xfrm>
            <a:off x="1600200" y="4197096"/>
            <a:ext cx="7132320" cy="320040"/>
          </a:xfrm>
          <a:prstGeom prst="rect">
            <a:avLst/>
          </a:prstGeom>
          <a:noFill/>
          <a:ln/>
        </p:spPr>
        <p:txBody>
          <a:bodyPr wrap="square"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Audit escalation triggers</a:t>
            </a:r>
            <a:endParaRPr lang="en-US" sz="1450" dirty="0"/>
          </a:p>
        </p:txBody>
      </p:sp>
      <p:sp>
        <p:nvSpPr>
          <p:cNvPr id="23" name="Text 21"/>
          <p:cNvSpPr/>
          <p:nvPr/>
        </p:nvSpPr>
        <p:spPr>
          <a:xfrm>
            <a:off x="1600200" y="4517136"/>
            <a:ext cx="7132320" cy="566928"/>
          </a:xfrm>
          <a:prstGeom prst="rect">
            <a:avLst/>
          </a:prstGeom>
          <a:noFill/>
          <a:ln/>
        </p:spPr>
        <p:txBody>
          <a:bodyPr wrap="square" rtlCol="0" anchor="ctr"/>
          <a:lstStyle/>
          <a:p>
            <a:pPr indent="0" marL="0">
              <a:buNone/>
            </a:pPr>
            <a:r>
              <a:rPr lang="en-US" sz="1050" dirty="0">
                <a:solidFill>
                  <a:srgbClr val="6B6B6B"/>
                </a:solidFill>
                <a:latin typeface="Calibri" pitchFamily="34" charset="0"/>
                <a:ea typeface="Calibri" pitchFamily="34" charset="-122"/>
                <a:cs typeface="Calibri" pitchFamily="34" charset="-120"/>
              </a:rPr>
              <a:t>5 escalations is small in absolute terms but worth checking against the threshold rules — confirm they're firing correctly, not over-triggering.</a:t>
            </a:r>
            <a:endParaRPr lang="en-US" sz="1050" dirty="0"/>
          </a:p>
        </p:txBody>
      </p:sp>
      <p:sp>
        <p:nvSpPr>
          <p:cNvPr id="24" name="Shape 22"/>
          <p:cNvSpPr/>
          <p:nvPr/>
        </p:nvSpPr>
        <p:spPr>
          <a:xfrm>
            <a:off x="9921240" y="4443984"/>
            <a:ext cx="1508760" cy="347472"/>
          </a:xfrm>
          <a:prstGeom prst="roundRect">
            <a:avLst>
              <a:gd name="adj" fmla="val 15789"/>
            </a:avLst>
          </a:prstGeom>
          <a:solidFill>
            <a:srgbClr val="F0ECFF"/>
          </a:solidFill>
          <a:ln/>
        </p:spPr>
      </p:sp>
      <p:sp>
        <p:nvSpPr>
          <p:cNvPr id="25" name="Text 23"/>
          <p:cNvSpPr/>
          <p:nvPr/>
        </p:nvSpPr>
        <p:spPr>
          <a:xfrm>
            <a:off x="9921240" y="4443984"/>
            <a:ext cx="1508760" cy="347472"/>
          </a:xfrm>
          <a:prstGeom prst="rect">
            <a:avLst/>
          </a:prstGeom>
          <a:noFill/>
          <a:ln/>
        </p:spPr>
        <p:txBody>
          <a:bodyPr wrap="square" rtlCol="0" anchor="ctr"/>
          <a:lstStyle/>
          <a:p>
            <a:pPr algn="ctr" indent="0" marL="0">
              <a:buNone/>
            </a:pPr>
            <a:r>
              <a:rPr lang="en-US" sz="950" b="1" dirty="0">
                <a:solidFill>
                  <a:srgbClr val="5B3FD9"/>
                </a:solidFill>
                <a:latin typeface="Calibri" pitchFamily="34" charset="0"/>
                <a:ea typeface="Calibri" pitchFamily="34" charset="-122"/>
                <a:cs typeface="Calibri" pitchFamily="34" charset="-120"/>
              </a:rPr>
              <a:t>This week</a:t>
            </a:r>
            <a:endParaRPr lang="en-US" sz="950" dirty="0"/>
          </a:p>
        </p:txBody>
      </p:sp>
      <p:sp>
        <p:nvSpPr>
          <p:cNvPr id="26" name="Shape 24"/>
          <p:cNvSpPr/>
          <p:nvPr/>
        </p:nvSpPr>
        <p:spPr>
          <a:xfrm>
            <a:off x="548640" y="5340096"/>
            <a:ext cx="11064240" cy="1078992"/>
          </a:xfrm>
          <a:prstGeom prst="rect">
            <a:avLst/>
          </a:prstGeom>
          <a:solidFill>
            <a:srgbClr val="FFFFFF"/>
          </a:solidFill>
          <a:ln w="12700">
            <a:solidFill>
              <a:srgbClr val="E5E5E5"/>
            </a:solidFill>
            <a:prstDash val="solid"/>
          </a:ln>
          <a:effectLst>
            <a:outerShdw sx="100000" sy="100000" kx="0" ky="0" algn="bl" rotWithShape="0" blurRad="63500" dist="25400" dir="5400000">
              <a:srgbClr val="000000">
                <a:alpha val="5000"/>
              </a:srgbClr>
            </a:outerShdw>
          </a:effectLst>
        </p:spPr>
      </p:sp>
      <p:sp>
        <p:nvSpPr>
          <p:cNvPr id="27" name="Shape 25"/>
          <p:cNvSpPr/>
          <p:nvPr/>
        </p:nvSpPr>
        <p:spPr>
          <a:xfrm>
            <a:off x="777240" y="5586984"/>
            <a:ext cx="566928" cy="566928"/>
          </a:xfrm>
          <a:prstGeom prst="ellipse">
            <a:avLst/>
          </a:prstGeom>
          <a:solidFill>
            <a:srgbClr val="7856FF"/>
          </a:solidFill>
          <a:ln/>
        </p:spPr>
      </p:sp>
      <p:sp>
        <p:nvSpPr>
          <p:cNvPr id="28" name="Text 26"/>
          <p:cNvSpPr/>
          <p:nvPr/>
        </p:nvSpPr>
        <p:spPr>
          <a:xfrm>
            <a:off x="777240" y="5586984"/>
            <a:ext cx="566928" cy="56692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9" name="Text 27"/>
          <p:cNvSpPr/>
          <p:nvPr/>
        </p:nvSpPr>
        <p:spPr>
          <a:xfrm>
            <a:off x="1600200" y="5458968"/>
            <a:ext cx="7132320" cy="320040"/>
          </a:xfrm>
          <a:prstGeom prst="rect">
            <a:avLst/>
          </a:prstGeom>
          <a:noFill/>
          <a:ln/>
        </p:spPr>
        <p:txBody>
          <a:bodyPr wrap="square"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Formalize channel-based routing review</a:t>
            </a:r>
            <a:endParaRPr lang="en-US" sz="1450" dirty="0"/>
          </a:p>
        </p:txBody>
      </p:sp>
      <p:sp>
        <p:nvSpPr>
          <p:cNvPr id="30" name="Text 28"/>
          <p:cNvSpPr/>
          <p:nvPr/>
        </p:nvSpPr>
        <p:spPr>
          <a:xfrm>
            <a:off x="1600200" y="5779008"/>
            <a:ext cx="7132320" cy="566928"/>
          </a:xfrm>
          <a:prstGeom prst="rect">
            <a:avLst/>
          </a:prstGeom>
          <a:noFill/>
          <a:ln/>
        </p:spPr>
        <p:txBody>
          <a:bodyPr wrap="square" rtlCol="0" anchor="ctr"/>
          <a:lstStyle/>
          <a:p>
            <a:pPr indent="0" marL="0">
              <a:buNone/>
            </a:pPr>
            <a:r>
              <a:rPr lang="en-US" sz="1050" dirty="0">
                <a:solidFill>
                  <a:srgbClr val="6B6B6B"/>
                </a:solidFill>
                <a:latin typeface="Calibri" pitchFamily="34" charset="0"/>
                <a:ea typeface="Calibri" pitchFamily="34" charset="-122"/>
                <a:cs typeface="Calibri" pitchFamily="34" charset="-120"/>
              </a:rPr>
              <a:t>With Direct at 44% of volume, confirm routing and staffing are weighted to match, not still calibrated to an older channel mix.</a:t>
            </a:r>
            <a:endParaRPr lang="en-US" sz="1050" dirty="0"/>
          </a:p>
        </p:txBody>
      </p:sp>
      <p:sp>
        <p:nvSpPr>
          <p:cNvPr id="31" name="Shape 29"/>
          <p:cNvSpPr/>
          <p:nvPr/>
        </p:nvSpPr>
        <p:spPr>
          <a:xfrm>
            <a:off x="9921240" y="5705856"/>
            <a:ext cx="1508760" cy="347472"/>
          </a:xfrm>
          <a:prstGeom prst="roundRect">
            <a:avLst>
              <a:gd name="adj" fmla="val 15789"/>
            </a:avLst>
          </a:prstGeom>
          <a:solidFill>
            <a:srgbClr val="F0ECFF"/>
          </a:solidFill>
          <a:ln/>
        </p:spPr>
      </p:sp>
      <p:sp>
        <p:nvSpPr>
          <p:cNvPr id="32" name="Text 30"/>
          <p:cNvSpPr/>
          <p:nvPr/>
        </p:nvSpPr>
        <p:spPr>
          <a:xfrm>
            <a:off x="9921240" y="5705856"/>
            <a:ext cx="1508760" cy="347472"/>
          </a:xfrm>
          <a:prstGeom prst="rect">
            <a:avLst/>
          </a:prstGeom>
          <a:noFill/>
          <a:ln/>
        </p:spPr>
        <p:txBody>
          <a:bodyPr wrap="square" rtlCol="0" anchor="ctr"/>
          <a:lstStyle/>
          <a:p>
            <a:pPr algn="ctr" indent="0" marL="0">
              <a:buNone/>
            </a:pPr>
            <a:r>
              <a:rPr lang="en-US" sz="950" b="1" dirty="0">
                <a:solidFill>
                  <a:srgbClr val="5B3FD9"/>
                </a:solidFill>
                <a:latin typeface="Calibri" pitchFamily="34" charset="0"/>
                <a:ea typeface="Calibri" pitchFamily="34" charset="-122"/>
                <a:cs typeface="Calibri" pitchFamily="34" charset="-120"/>
              </a:rPr>
              <a:t>Next month</a:t>
            </a:r>
            <a:endParaRPr lang="en-US" sz="950" dirty="0"/>
          </a:p>
        </p:txBody>
      </p:sp>
      <p:sp>
        <p:nvSpPr>
          <p:cNvPr id="33" name="Text 31"/>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7856FF">
              <a:alpha val="10000"/>
            </a:srgbClr>
          </a:solidFill>
          <a:ln/>
        </p:spPr>
      </p:sp>
      <p:sp>
        <p:nvSpPr>
          <p:cNvPr id="3" name="Shape 1"/>
          <p:cNvSpPr/>
          <p:nvPr/>
        </p:nvSpPr>
        <p:spPr>
          <a:xfrm>
            <a:off x="8961120" y="3657600"/>
            <a:ext cx="4572000" cy="4572000"/>
          </a:xfrm>
          <a:prstGeom prst="ellipse">
            <a:avLst/>
          </a:prstGeom>
          <a:solidFill>
            <a:srgbClr val="7856FF">
              <a:alpha val="10000"/>
            </a:srgbClr>
          </a:solidFill>
          <a:ln/>
        </p:spPr>
      </p:sp>
      <p:sp>
        <p:nvSpPr>
          <p:cNvPr id="4" name="Text 2"/>
          <p:cNvSpPr/>
          <p:nvPr/>
        </p:nvSpPr>
        <p:spPr>
          <a:xfrm>
            <a:off x="548640" y="1554480"/>
            <a:ext cx="9144000" cy="548640"/>
          </a:xfrm>
          <a:prstGeom prst="rect">
            <a:avLst/>
          </a:prstGeom>
          <a:noFill/>
          <a:ln/>
        </p:spPr>
        <p:txBody>
          <a:bodyPr wrap="square" rtlCol="0" anchor="ctr"/>
          <a:lstStyle/>
          <a:p>
            <a:pPr indent="0" marL="0">
              <a:buNone/>
            </a:pPr>
            <a:r>
              <a:rPr lang="en-US" sz="1300" b="1" spc="200" kern="0" dirty="0">
                <a:solidFill>
                  <a:srgbClr val="7856FF"/>
                </a:solidFill>
                <a:latin typeface="Calibri" pitchFamily="34" charset="0"/>
                <a:ea typeface="Calibri" pitchFamily="34" charset="-122"/>
                <a:cs typeface="Calibri" pitchFamily="34" charset="-120"/>
              </a:rPr>
              <a:t>The picture overall</a:t>
            </a:r>
            <a:endParaRPr lang="en-US" sz="1300" dirty="0"/>
          </a:p>
        </p:txBody>
      </p:sp>
      <p:sp>
        <p:nvSpPr>
          <p:cNvPr id="5" name="Text 3"/>
          <p:cNvSpPr/>
          <p:nvPr/>
        </p:nvSpPr>
        <p:spPr>
          <a:xfrm>
            <a:off x="548640" y="2057400"/>
            <a:ext cx="10515600" cy="15544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Healthy queue, faster replies, satisfaction holding —</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with two signals worth a closer look.</a:t>
            </a:r>
            <a:endParaRPr lang="en-US" sz="3200" dirty="0"/>
          </a:p>
        </p:txBody>
      </p:sp>
      <p:sp>
        <p:nvSpPr>
          <p:cNvPr id="6" name="Text 4"/>
          <p:cNvSpPr/>
          <p:nvPr/>
        </p:nvSpPr>
        <p:spPr>
          <a:xfrm>
            <a:off x="548640" y="3840480"/>
            <a:ext cx="8229600" cy="640080"/>
          </a:xfrm>
          <a:prstGeom prst="rect">
            <a:avLst/>
          </a:prstGeom>
          <a:noFill/>
          <a:ln/>
        </p:spPr>
        <p:txBody>
          <a:bodyPr wrap="square" rtlCol="0" anchor="ctr"/>
          <a:lstStyle/>
          <a:p>
            <a:pPr indent="0" marL="0">
              <a:buNone/>
            </a:pPr>
            <a:r>
              <a:rPr lang="en-US" sz="1350" dirty="0">
                <a:solidFill>
                  <a:srgbClr val="C9C9D6"/>
                </a:solidFill>
                <a:latin typeface="Calibri" pitchFamily="34" charset="0"/>
                <a:ea typeface="Calibri" pitchFamily="34" charset="-122"/>
                <a:cs typeface="Calibri" pitchFamily="34" charset="-120"/>
              </a:rPr>
              <a:t>Reopened tickets and escalations are the two threads to pull this cycle. Everything else — volume, response time, CSAT, channel mix — is trending in the right direction.</a:t>
            </a:r>
            <a:endParaRPr lang="en-US" sz="1350" dirty="0"/>
          </a:p>
        </p:txBody>
      </p:sp>
      <p:sp>
        <p:nvSpPr>
          <p:cNvPr id="7" name="Shape 5"/>
          <p:cNvSpPr/>
          <p:nvPr/>
        </p:nvSpPr>
        <p:spPr>
          <a:xfrm>
            <a:off x="566928" y="4709160"/>
            <a:ext cx="1005840" cy="0"/>
          </a:xfrm>
          <a:prstGeom prst="line">
            <a:avLst/>
          </a:prstGeom>
          <a:noFill/>
          <a:ln w="31750">
            <a:solidFill>
              <a:srgbClr val="7856FF"/>
            </a:solidFill>
            <a:prstDash val="solid"/>
          </a:ln>
        </p:spPr>
      </p:sp>
      <p:sp>
        <p:nvSpPr>
          <p:cNvPr id="8" name="Text 6"/>
          <p:cNvSpPr/>
          <p:nvPr/>
        </p:nvSpPr>
        <p:spPr>
          <a:xfrm>
            <a:off x="548640" y="4937760"/>
            <a:ext cx="548640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Thank you</a:t>
            </a:r>
            <a:endParaRPr lang="en-US" sz="1800" dirty="0"/>
          </a:p>
        </p:txBody>
      </p:sp>
      <p:sp>
        <p:nvSpPr>
          <p:cNvPr id="9" name="Text 7"/>
          <p:cNvSpPr/>
          <p:nvPr/>
        </p:nvSpPr>
        <p:spPr>
          <a:xfrm>
            <a:off x="548640" y="5349240"/>
            <a:ext cx="5486400" cy="320040"/>
          </a:xfrm>
          <a:prstGeom prst="rect">
            <a:avLst/>
          </a:prstGeom>
          <a:noFill/>
          <a:ln/>
        </p:spPr>
        <p:txBody>
          <a:bodyPr wrap="square" rtlCol="0" anchor="ctr"/>
          <a:lstStyle/>
          <a:p>
            <a:pPr indent="0" marL="0">
              <a:buNone/>
            </a:pPr>
            <a:r>
              <a:rPr lang="en-US" sz="1100" dirty="0">
                <a:solidFill>
                  <a:srgbClr val="8A8A99"/>
                </a:solidFill>
                <a:latin typeface="Calibri" pitchFamily="34" charset="0"/>
                <a:ea typeface="Calibri" pitchFamily="34" charset="-122"/>
                <a:cs typeface="Calibri" pitchFamily="34" charset="-120"/>
              </a:rPr>
              <a:t>Duško Stamenić — duskostamenic.com</a:t>
            </a:r>
            <a:endParaRPr lang="en-US" sz="1100" dirty="0"/>
          </a:p>
        </p:txBody>
      </p:sp>
      <p:sp>
        <p:nvSpPr>
          <p:cNvPr id="10" name="Text 8"/>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Dashboard — Metrics Review</dc:title>
  <dc:subject>PptxGenJS Presentation</dc:subject>
  <dc:creator>Duško Stamenić</dc:creator>
  <cp:lastModifiedBy>Duško Stamenić</cp:lastModifiedBy>
  <cp:revision>1</cp:revision>
  <dcterms:created xsi:type="dcterms:W3CDTF">2026-06-17T21:36:18Z</dcterms:created>
  <dcterms:modified xsi:type="dcterms:W3CDTF">2026-06-17T21:36:18Z</dcterms:modified>
</cp:coreProperties>
</file>